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dk2"/>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30040"/>
            <a:ext cx="7716960" cy="2473920"/>
          </a:xfrm>
          <a:prstGeom prst="rect">
            <a:avLst/>
          </a:prstGeom>
          <a:noFill/>
          <a:ln w="0">
            <a:noFill/>
          </a:ln>
        </p:spPr>
        <p:txBody>
          <a:bodyPr lIns="91440" tIns="91440" rIns="91440" bIns="91440" anchor="b">
            <a:noAutofit/>
          </a:bodyPr>
          <a:lstStyle>
            <a:lvl1pPr indent="0" algn="l">
              <a:lnSpc>
                <a:spcPct val="100000"/>
              </a:lnSpc>
              <a:buNone/>
              <a:tabLst>
                <a:tab pos="0" algn="l"/>
              </a:tabLst>
              <a:defRPr lang="fr-FR" sz="5300" b="0" u="none" strike="noStrike">
                <a:solidFill>
                  <a:schemeClr val="dk1"/>
                </a:solidFill>
                <a:effectLst/>
                <a:uFillTx/>
                <a:latin typeface="Arial"/>
              </a:defRPr>
            </a:lvl1pPr>
          </a:lstStyle>
          <a:p>
            <a:pPr indent="0" algn="l">
              <a:lnSpc>
                <a:spcPct val="100000"/>
              </a:lnSpc>
              <a:buNone/>
              <a:tabLst>
                <a:tab pos="0" algn="l"/>
              </a:tabLst>
            </a:pPr>
            <a:r>
              <a:rPr lang="fr-FR" sz="5300" b="0" u="none" strike="noStrike">
                <a:solidFill>
                  <a:schemeClr val="dk1"/>
                </a:solidFill>
                <a:effectLst/>
                <a:uFillTx/>
                <a:latin typeface="Arial"/>
              </a:rPr>
              <a:t>Click to edit the title text format</a:t>
            </a:r>
            <a:endParaRPr lang="en-US" sz="5300" b="0" u="none" strike="noStrike">
              <a:solidFill>
                <a:srgbClr val="000000"/>
              </a:solidFill>
              <a:effectLst/>
              <a:uFillTx/>
              <a:latin typeface="Arial"/>
            </a:endParaRPr>
          </a:p>
        </p:txBody>
      </p:sp>
      <p:sp>
        <p:nvSpPr>
          <p:cNvPr id="3" name="Google Shape;11;p2"/>
          <p:cNvSpPr/>
          <p:nvPr/>
        </p:nvSpPr>
        <p:spPr>
          <a:xfrm>
            <a:off x="-565200" y="-462600"/>
            <a:ext cx="5908320" cy="1001160"/>
          </a:xfrm>
          <a:prstGeom prst="roundRect">
            <a:avLst>
              <a:gd name="adj" fmla="val 50000"/>
            </a:avLst>
          </a:prstGeom>
          <a:noFill/>
          <a:ln w="38100">
            <a:solidFill>
              <a:srgbClr val="D9CFDE"/>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4" name="Google Shape;12;p2"/>
          <p:cNvSpPr/>
          <p:nvPr/>
        </p:nvSpPr>
        <p:spPr>
          <a:xfrm>
            <a:off x="3799800" y="4608720"/>
            <a:ext cx="5908320" cy="1001160"/>
          </a:xfrm>
          <a:prstGeom prst="roundRect">
            <a:avLst>
              <a:gd name="adj" fmla="val 50000"/>
            </a:avLst>
          </a:prstGeom>
          <a:noFill/>
          <a:ln w="38100">
            <a:solidFill>
              <a:srgbClr val="F9CFD0"/>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5"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2">
    <p:bg>
      <p:bgPr>
        <a:solidFill>
          <a:schemeClr val="dk2"/>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135520" y="563400"/>
            <a:ext cx="4872600" cy="1047960"/>
          </a:xfrm>
          <a:prstGeom prst="rect">
            <a:avLst/>
          </a:prstGeom>
          <a:noFill/>
          <a:ln w="0">
            <a:noFill/>
          </a:ln>
        </p:spPr>
        <p:txBody>
          <a:bodyPr lIns="91440" tIns="91440" rIns="91440" bIns="91440" anchor="b">
            <a:noAutofit/>
          </a:bodyPr>
          <a:lstStyle>
            <a:lvl1pPr indent="0" algn="l">
              <a:lnSpc>
                <a:spcPct val="100000"/>
              </a:lnSpc>
              <a:buNone/>
              <a:tabLst>
                <a:tab pos="0" algn="l"/>
              </a:tabLst>
              <a:defRPr lang="fr-FR" sz="7200" b="0" u="none" strike="noStrike">
                <a:solidFill>
                  <a:schemeClr val="dk1"/>
                </a:solidFill>
                <a:effectLst/>
                <a:uFillTx/>
                <a:latin typeface="Arial"/>
              </a:defRPr>
            </a:lvl1pPr>
          </a:lstStyle>
          <a:p>
            <a:pPr indent="0" algn="l">
              <a:lnSpc>
                <a:spcPct val="100000"/>
              </a:lnSpc>
              <a:buNone/>
              <a:tabLst>
                <a:tab pos="0" algn="l"/>
              </a:tabLst>
            </a:pPr>
            <a:r>
              <a:rPr lang="fr-FR" sz="7200" b="0" u="none" strike="noStrike">
                <a:solidFill>
                  <a:schemeClr val="dk1"/>
                </a:solidFill>
                <a:effectLst/>
                <a:uFillTx/>
                <a:latin typeface="Arial"/>
              </a:rPr>
              <a:t>Click to edit the title text format</a:t>
            </a:r>
            <a:endParaRPr lang="en-US" sz="7200" b="0" u="none" strike="noStrike">
              <a:solidFill>
                <a:srgbClr val="000000"/>
              </a:solidFill>
              <a:effectLst/>
              <a:uFillTx/>
              <a:latin typeface="Arial"/>
            </a:endParaRPr>
          </a:p>
        </p:txBody>
      </p:sp>
      <p:sp>
        <p:nvSpPr>
          <p:cNvPr id="7" name="Google Shape;161;p24"/>
          <p:cNvSpPr/>
          <p:nvPr/>
        </p:nvSpPr>
        <p:spPr>
          <a:xfrm>
            <a:off x="2555280" y="3617640"/>
            <a:ext cx="4033080" cy="464760"/>
          </a:xfrm>
          <a:prstGeom prst="rect">
            <a:avLst/>
          </a:prstGeom>
          <a:noFill/>
          <a:ln w="0">
            <a:noFill/>
          </a:ln>
        </p:spPr>
        <p:style>
          <a:lnRef idx="0"/>
          <a:fillRef idx="0"/>
          <a:effectRef idx="0"/>
          <a:fontRef idx="minor"/>
        </p:style>
        <p:txBody>
          <a:bodyPr lIns="90000" tIns="91440" rIns="90000" bIns="91440" anchor="t">
            <a:noAutofit/>
          </a:bodyPr>
          <a:p>
            <a:pPr algn="ctr" defTabSz="914400">
              <a:lnSpc>
                <a:spcPct val="100000"/>
              </a:lnSpc>
              <a:spcBef>
                <a:spcPts val="300"/>
              </a:spcBef>
              <a:tabLst>
                <a:tab pos="0" algn="l"/>
              </a:tabLst>
            </a:pPr>
            <a:r>
              <a:rPr lang="en" sz="1000" b="0" u="none" strike="noStrike">
                <a:solidFill>
                  <a:srgbClr val="191919"/>
                </a:solidFill>
                <a:effectLst/>
                <a:uFillTx/>
                <a:latin typeface="Catamaran"/>
                <a:ea typeface="Catamaran"/>
              </a:rPr>
              <a:t>CREDITS: This presentation template was created by </a:t>
            </a:r>
            <a:r>
              <a:rPr lang="en" sz="1000" b="1" u="sng" strike="noStrike">
                <a:solidFill>
                  <a:srgbClr val="000000"/>
                </a:solidFill>
                <a:effectLst/>
                <a:uFillTx/>
                <a:latin typeface="Catamaran"/>
                <a:ea typeface="Catamaran"/>
                <a:hlinkClick r:id="rId2"/>
              </a:rPr>
              <a:t>Slidesgo</a:t>
            </a:r>
            <a:r>
              <a:rPr lang="en" sz="1000" b="0" u="none" strike="noStrike">
                <a:solidFill>
                  <a:srgbClr val="191919"/>
                </a:solidFill>
                <a:effectLst/>
                <a:uFillTx/>
                <a:latin typeface="Catamaran"/>
                <a:ea typeface="Catamaran"/>
              </a:rPr>
              <a:t>, and includes icons by </a:t>
            </a:r>
            <a:r>
              <a:rPr lang="en" sz="1000" b="1" u="sng" strike="noStrike">
                <a:solidFill>
                  <a:srgbClr val="000000"/>
                </a:solidFill>
                <a:effectLst/>
                <a:uFillTx/>
                <a:latin typeface="Catamaran"/>
                <a:ea typeface="Catamaran"/>
                <a:hlinkClick r:id="rId3"/>
              </a:rPr>
              <a:t>Flaticon</a:t>
            </a:r>
            <a:r>
              <a:rPr lang="en" sz="1000" b="0" u="none" strike="noStrike">
                <a:solidFill>
                  <a:srgbClr val="191919"/>
                </a:solidFill>
                <a:effectLst/>
                <a:uFillTx/>
                <a:latin typeface="Catamaran"/>
                <a:ea typeface="Catamaran"/>
              </a:rPr>
              <a:t> and infographics &amp; images by </a:t>
            </a:r>
            <a:r>
              <a:rPr lang="en" sz="1000" b="1" u="sng" strike="noStrike">
                <a:solidFill>
                  <a:srgbClr val="000000"/>
                </a:solidFill>
                <a:effectLst/>
                <a:uFillTx/>
                <a:latin typeface="Catamaran"/>
                <a:ea typeface="Catamaran"/>
                <a:hlinkClick r:id="rId4"/>
              </a:rPr>
              <a:t>Freepik</a:t>
            </a:r>
            <a:endParaRPr lang="en-US" sz="1000" b="0" u="none" strike="noStrike">
              <a:solidFill>
                <a:srgbClr val="000000"/>
              </a:solidFill>
              <a:effectLst/>
              <a:uFillTx/>
              <a:latin typeface="Arial"/>
            </a:endParaRPr>
          </a:p>
        </p:txBody>
      </p:sp>
      <p:sp>
        <p:nvSpPr>
          <p:cNvPr id="8" name="Google Shape;162;p24"/>
          <p:cNvSpPr/>
          <p:nvPr/>
        </p:nvSpPr>
        <p:spPr>
          <a:xfrm rot="5400000">
            <a:off x="-948240" y="193680"/>
            <a:ext cx="4326120" cy="1001160"/>
          </a:xfrm>
          <a:prstGeom prst="roundRect">
            <a:avLst>
              <a:gd name="adj" fmla="val 50000"/>
            </a:avLst>
          </a:prstGeom>
          <a:noFill/>
          <a:ln w="38100">
            <a:solidFill>
              <a:srgbClr val="D9CFDE"/>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9" name="Google Shape;163;p24"/>
          <p:cNvSpPr/>
          <p:nvPr/>
        </p:nvSpPr>
        <p:spPr>
          <a:xfrm rot="5400000">
            <a:off x="5767200" y="3947760"/>
            <a:ext cx="4326120" cy="1001160"/>
          </a:xfrm>
          <a:prstGeom prst="roundRect">
            <a:avLst>
              <a:gd name="adj" fmla="val 50000"/>
            </a:avLst>
          </a:prstGeom>
          <a:noFill/>
          <a:ln w="38100">
            <a:solidFill>
              <a:srgbClr val="FFE0A7"/>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dk2"/>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20000" y="539640"/>
            <a:ext cx="7703280" cy="572040"/>
          </a:xfrm>
          <a:prstGeom prst="rect">
            <a:avLst/>
          </a:prstGeom>
          <a:noFill/>
          <a:ln w="0">
            <a:noFill/>
          </a:ln>
        </p:spPr>
        <p:txBody>
          <a:bodyPr lIns="91440" tIns="91440" rIns="91440" bIns="91440" anchor="t">
            <a:noAutofit/>
          </a:bodyPr>
          <a:lstStyle>
            <a:lvl1pPr indent="0" algn="l">
              <a:lnSpc>
                <a:spcPct val="100000"/>
              </a:lnSpc>
              <a:buNone/>
              <a:tabLst>
                <a:tab pos="0" algn="l"/>
              </a:tabLst>
              <a:defRPr lang="fr-FR" sz="3500" b="0" u="none" strike="noStrike">
                <a:solidFill>
                  <a:schemeClr val="dk1"/>
                </a:solidFill>
                <a:effectLst/>
                <a:uFillTx/>
                <a:latin typeface="Arial"/>
              </a:defRPr>
            </a:lvl1pPr>
          </a:lstStyle>
          <a:p>
            <a:pPr indent="0" algn="l">
              <a:lnSpc>
                <a:spcPct val="100000"/>
              </a:lnSpc>
              <a:buNone/>
              <a:tabLst>
                <a:tab pos="0" algn="l"/>
              </a:tabLst>
            </a:pPr>
            <a:r>
              <a:rPr lang="fr-FR" sz="3500" b="0" u="none" strike="noStrike">
                <a:solidFill>
                  <a:schemeClr val="dk1"/>
                </a:solidFill>
                <a:effectLst/>
                <a:uFillTx/>
                <a:latin typeface="Arial"/>
              </a:rPr>
              <a:t>Click to edit the title text format</a:t>
            </a:r>
            <a:endParaRPr lang="en-US" sz="3500" b="0" u="none" strike="noStrike">
              <a:solidFill>
                <a:srgbClr val="000000"/>
              </a:solidFill>
              <a:effectLst/>
              <a:uFillTx/>
              <a:latin typeface="Arial"/>
            </a:endParaRPr>
          </a:p>
        </p:txBody>
      </p:sp>
      <p:sp>
        <p:nvSpPr>
          <p:cNvPr id="11" name="Google Shape;34;p6"/>
          <p:cNvSpPr/>
          <p:nvPr/>
        </p:nvSpPr>
        <p:spPr>
          <a:xfrm rot="5400000">
            <a:off x="6743880" y="-209160"/>
            <a:ext cx="2358720" cy="1001160"/>
          </a:xfrm>
          <a:prstGeom prst="roundRect">
            <a:avLst>
              <a:gd name="adj" fmla="val 50000"/>
            </a:avLst>
          </a:prstGeom>
          <a:noFill/>
          <a:ln w="38100">
            <a:solidFill>
              <a:srgbClr val="D2DAE9"/>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12" name="Google Shape;35;p6"/>
          <p:cNvSpPr/>
          <p:nvPr/>
        </p:nvSpPr>
        <p:spPr>
          <a:xfrm>
            <a:off x="-1335600" y="4633920"/>
            <a:ext cx="2358720" cy="1001160"/>
          </a:xfrm>
          <a:prstGeom prst="roundRect">
            <a:avLst>
              <a:gd name="adj" fmla="val 50000"/>
            </a:avLst>
          </a:prstGeom>
          <a:noFill/>
          <a:ln w="38100">
            <a:solidFill>
              <a:srgbClr val="F9CFD0"/>
            </a:solidFill>
            <a:round/>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13"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3ED"/>
        </a:solidFill>
      </p:bgPr>
    </p:bg>
    <p:spTree>
      <p:nvGrpSpPr>
        <p:cNvPr id="1" name=""/>
        <p:cNvGrpSpPr/>
        <p:nvPr/>
      </p:nvGrpSpPr>
      <p:grpSpPr>
        <a:xfrm>
          <a:off x="0" y="0"/>
          <a:ext cx="0" cy="0"/>
          <a:chOff x="0" y="0"/>
          <a:chExt cx="0" cy="0"/>
        </a:xfrm>
      </p:grpSpPr>
      <p:cxnSp>
        <p:nvCxnSpPr>
          <p:cNvPr id="14" name="Google Shape;183;p30"/>
          <p:cNvCxnSpPr/>
          <p:nvPr/>
        </p:nvCxnSpPr>
        <p:spPr>
          <a:xfrm>
            <a:off x="3017160" y="3562200"/>
            <a:ext cx="3110040" cy="720"/>
          </a:xfrm>
          <a:prstGeom prst="straightConnector1">
            <a:avLst/>
          </a:prstGeom>
          <a:ln w="38100">
            <a:solidFill>
              <a:srgbClr val="D2DAE9"/>
            </a:solidFill>
            <a:round/>
          </a:ln>
        </p:spPr>
      </p:cxnSp>
      <p:sp>
        <p:nvSpPr>
          <p:cNvPr id="15" name=""/>
          <p:cNvSpPr/>
          <p:nvPr/>
        </p:nvSpPr>
        <p:spPr>
          <a:xfrm>
            <a:off x="714240" y="2825640"/>
            <a:ext cx="7714440" cy="675720"/>
          </a:xfrm>
          <a:prstGeom prst="rect">
            <a:avLst/>
          </a:prstGeom>
          <a:noFill/>
          <a:ln w="0">
            <a:noFill/>
          </a:ln>
        </p:spPr>
        <p:style>
          <a:lnRef idx="0"/>
          <a:fillRef idx="0"/>
          <a:effectRef idx="0"/>
          <a:fontRef idx="minor"/>
        </p:style>
        <p:txBody>
          <a:bodyPr lIns="90000" tIns="45000" rIns="90000" bIns="45000" anchor="b">
            <a:normAutofit fontScale="85000" lnSpcReduction="19999"/>
          </a:bodyPr>
          <a:p>
            <a:pPr algn="ctr" defTabSz="914400">
              <a:lnSpc>
                <a:spcPct val="100000"/>
              </a:lnSpc>
              <a:tabLst>
                <a:tab pos="0" algn="l"/>
              </a:tabLst>
            </a:pPr>
            <a:r>
              <a:rPr lang="en-US" sz="5300" b="0" u="none" strike="noStrike">
                <a:solidFill>
                  <a:srgbClr val="212529"/>
                </a:solidFill>
                <a:effectLst/>
                <a:uFillTx/>
                <a:latin typeface="Lexend Deca"/>
              </a:rPr>
              <a:t>Planora</a:t>
            </a:r>
            <a:endParaRPr lang="en-US" sz="5300" b="0" u="none" strike="noStrike">
              <a:solidFill>
                <a:srgbClr val="000000"/>
              </a:solidFill>
              <a:effectLst/>
              <a:uFillTx/>
              <a:latin typeface="Arial"/>
            </a:endParaRPr>
          </a:p>
        </p:txBody>
      </p:sp>
      <p:sp>
        <p:nvSpPr>
          <p:cNvPr id="16" name=""/>
          <p:cNvSpPr/>
          <p:nvPr/>
        </p:nvSpPr>
        <p:spPr>
          <a:xfrm>
            <a:off x="2390760" y="3600360"/>
            <a:ext cx="4361760" cy="761400"/>
          </a:xfrm>
          <a:prstGeom prst="rect">
            <a:avLst/>
          </a:prstGeom>
          <a:noFill/>
          <a:ln w="0">
            <a:noFill/>
          </a:ln>
        </p:spPr>
        <p:style>
          <a:lnRef idx="0"/>
          <a:fillRef idx="0"/>
          <a:effectRef idx="0"/>
          <a:fontRef idx="minor"/>
        </p:style>
        <p:txBody>
          <a:bodyPr lIns="90000" tIns="45000" rIns="90000" bIns="45000" anchor="t">
            <a:normAutofit lnSpcReduction="9999"/>
          </a:bodyPr>
          <a:p>
            <a:pPr algn="ctr" defTabSz="914400">
              <a:lnSpc>
                <a:spcPct val="150000"/>
              </a:lnSpc>
              <a:tabLst>
                <a:tab pos="0" algn="l"/>
              </a:tabLst>
            </a:pPr>
            <a:r>
              <a:rPr lang="en-US" sz="1600" b="0" u="none" strike="noStrike">
                <a:solidFill>
                  <a:srgbClr val="191919"/>
                </a:solidFill>
                <a:effectLst/>
                <a:uFillTx/>
                <a:latin typeface="Catamaran"/>
              </a:rPr>
              <a:t>A technical review of a student schedule-planning platform</a:t>
            </a:r>
            <a:endParaRPr lang="en-US" sz="1600" b="0" u="none" strike="noStrike">
              <a:solidFill>
                <a:srgbClr val="000000"/>
              </a:solidFill>
              <a:effectLst/>
              <a:uFillTx/>
              <a:latin typeface="Arial"/>
            </a:endParaRPr>
          </a:p>
        </p:txBody>
      </p:sp>
      <p:pic>
        <p:nvPicPr>
          <p:cNvPr id="17" name=""/>
          <p:cNvPicPr/>
          <p:nvPr/>
        </p:nvPicPr>
        <p:blipFill>
          <a:blip r:embed="rId1"/>
          <a:stretch/>
        </p:blipFill>
        <p:spPr>
          <a:xfrm>
            <a:off x="1813680" y="1035000"/>
            <a:ext cx="5811840" cy="174348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Scheduling Is Constrained</a:t>
            </a:r>
            <a:endParaRPr lang="en-US" sz="2400" b="0" u="none" strike="noStrike">
              <a:solidFill>
                <a:srgbClr val="000000"/>
              </a:solidFill>
              <a:effectLst/>
              <a:uFillTx/>
              <a:latin typeface="Arial"/>
            </a:endParaRPr>
          </a:p>
        </p:txBody>
      </p:sp>
      <p:sp>
        <p:nvSpPr>
          <p:cNvPr id="19" name=""/>
          <p:cNvSpPr/>
          <p:nvPr/>
        </p:nvSpPr>
        <p:spPr>
          <a:xfrm>
            <a:off x="476280" y="1238400"/>
            <a:ext cx="8190720" cy="1218600"/>
          </a:xfrm>
          <a:prstGeom prst="rect">
            <a:avLst/>
          </a:prstGeom>
          <a:noFill/>
          <a:ln w="0">
            <a:noFill/>
          </a:ln>
        </p:spPr>
        <p:style>
          <a:lnRef idx="0"/>
          <a:fillRef idx="0"/>
          <a:effectRef idx="0"/>
          <a:fontRef idx="minor"/>
        </p:style>
        <p:txBody>
          <a:bodyPr lIns="90000" tIns="45000" rIns="90000" bIns="45000" anchor="t">
            <a:normAutofit fontScale="77500" lnSpcReduction="19999"/>
          </a:bodyPr>
          <a:p>
            <a:pPr defTabSz="914400">
              <a:lnSpc>
                <a:spcPct val="150000"/>
              </a:lnSpc>
              <a:tabLst>
                <a:tab pos="0" algn="l"/>
              </a:tabLst>
            </a:pPr>
            <a:r>
              <a:rPr lang="en-US" sz="1600" b="0" u="none" strike="noStrike">
                <a:solidFill>
                  <a:srgbClr val="191919"/>
                </a:solidFill>
                <a:effectLst/>
                <a:uFillTx/>
                <a:latin typeface="Catamaran"/>
              </a:rPr>
              <a:t>Course scheduling is a complex, constrained combinatorial problem driven by dozens of rules and preferences. Typical constraints include time conflicts, prerequisite chains, room capacities, and elective combinations that satisfy degree requirements. Users struggle with manual timetable construction, visual comparison across options, and tracking multiple sections and enrollments.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Research Question</a:t>
            </a:r>
            <a:endParaRPr lang="en-US" sz="2400" b="0" u="none" strike="noStrike">
              <a:solidFill>
                <a:srgbClr val="000000"/>
              </a:solidFill>
              <a:effectLst/>
              <a:uFillTx/>
              <a:latin typeface="Arial"/>
            </a:endParaRPr>
          </a:p>
        </p:txBody>
      </p:sp>
      <p:sp>
        <p:nvSpPr>
          <p:cNvPr id="21" name=""/>
          <p:cNvSpPr/>
          <p:nvPr/>
        </p:nvSpPr>
        <p:spPr>
          <a:xfrm>
            <a:off x="476280" y="1238400"/>
            <a:ext cx="8190720" cy="167580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50000"/>
              </a:lnSpc>
              <a:tabLst>
                <a:tab pos="0" algn="l"/>
              </a:tabLst>
            </a:pPr>
            <a:r>
              <a:rPr lang="en-US" sz="1600" b="0" u="none" strike="noStrike">
                <a:solidFill>
                  <a:srgbClr val="191919"/>
                </a:solidFill>
                <a:effectLst/>
                <a:uFillTx/>
                <a:latin typeface="Catamaran"/>
              </a:rPr>
              <a:t>Planora asks: how can we support students and administrators in building feasible, optimized schedules under tight constraints while enabling transparent comparison and collaboration? Our objectives are to implement a schedule builder, comparison tools, conflict detection, persistent storage, and real-time collaboration, each paired with measurable success criteria (accuracy of generated schedules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1" u="none" strike="noStrike">
                <a:solidFill>
                  <a:srgbClr val="191919"/>
                </a:solidFill>
                <a:effectLst/>
                <a:uFillTx/>
                <a:latin typeface="Lexend Deca"/>
              </a:rPr>
              <a:t>Core Personas Identified</a:t>
            </a:r>
            <a:endParaRPr lang="en-US" sz="2400" b="0" u="none" strike="noStrike">
              <a:solidFill>
                <a:srgbClr val="000000"/>
              </a:solidFill>
              <a:effectLst/>
              <a:uFillTx/>
              <a:latin typeface="Arial"/>
            </a:endParaRPr>
          </a:p>
        </p:txBody>
      </p:sp>
      <p:sp>
        <p:nvSpPr>
          <p:cNvPr id="23" name=""/>
          <p:cNvSpPr/>
          <p:nvPr/>
        </p:nvSpPr>
        <p:spPr>
          <a:xfrm>
            <a:off x="476280" y="1333440"/>
            <a:ext cx="3904560" cy="106596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Undergraduate students who build and compare course schedules. They use the schedule creation, comparison, and export/import features to assemble viable options, save candidates, and persist selections for review with advisors.</a:t>
            </a:r>
            <a:endParaRPr lang="en-US" sz="1200" b="0" u="none" strike="noStrike">
              <a:solidFill>
                <a:srgbClr val="000000"/>
              </a:solidFill>
              <a:effectLst/>
              <a:uFillTx/>
              <a:latin typeface="Arial"/>
            </a:endParaRPr>
          </a:p>
        </p:txBody>
      </p:sp>
      <p:sp>
        <p:nvSpPr>
          <p:cNvPr id="24" name=""/>
          <p:cNvSpPr/>
          <p:nvPr/>
        </p:nvSpPr>
        <p:spPr>
          <a:xfrm>
            <a:off x="4762440" y="1333440"/>
            <a:ext cx="3904560" cy="106596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Advisors and department admins who monitor student schedules, validate conflicts, and export data for reporting. They leverage overview screens, bulk import/export, and policy-aware checks to support guidance and institutional workflows.</a:t>
            </a:r>
            <a:endParaRPr lang="en-US" sz="1200" b="0" u="none" strike="noStrike">
              <a:solidFill>
                <a:srgbClr val="000000"/>
              </a:solidFill>
              <a:effectLst/>
              <a:uFillTx/>
              <a:latin typeface="Arial"/>
            </a:endParaRPr>
          </a:p>
        </p:txBody>
      </p:sp>
      <p:sp>
        <p:nvSpPr>
          <p:cNvPr id="25" name=""/>
          <p:cNvSpPr/>
          <p:nvPr/>
        </p:nvSpPr>
        <p:spPr>
          <a:xfrm>
            <a:off x="476280" y="4381560"/>
            <a:ext cx="8190720" cy="33264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Planora centers on students first, with formalized roles for advisors and admins.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
          <p:cNvSpPr/>
          <p:nvPr/>
        </p:nvSpPr>
        <p:spPr>
          <a:xfrm>
            <a:off x="2000160" y="2104920"/>
            <a:ext cx="113760" cy="8640"/>
          </a:xfrm>
          <a:prstGeom prst="roundRect">
            <a:avLst>
              <a:gd name="adj" fmla="val 16667"/>
            </a:avLst>
          </a:prstGeom>
          <a:solidFill>
            <a:srgbClr val="FFE0A7"/>
          </a:solidFill>
          <a:ln w="0">
            <a:noFill/>
          </a:ln>
        </p:spPr>
        <p:style>
          <a:lnRef idx="0"/>
          <a:fillRef idx="0"/>
          <a:effectRef idx="0"/>
          <a:fontRef idx="minor"/>
        </p:style>
        <p:txBody>
          <a:bodyPr vertOverflow="clip" lIns="56880" tIns="-36720" rIns="56880" bIns="-36720" anchor="ctr">
            <a:noAutofit/>
          </a:bodyPr>
          <a:p>
            <a:endParaRPr lang="en-US" sz="1800" b="0" u="none" strike="noStrike">
              <a:solidFill>
                <a:srgbClr val="000000"/>
              </a:solidFill>
              <a:effectLst/>
              <a:uFillTx/>
              <a:latin typeface="OpenSymbol"/>
            </a:endParaRPr>
          </a:p>
        </p:txBody>
      </p:sp>
      <p:sp>
        <p:nvSpPr>
          <p:cNvPr id="27" name=""/>
          <p:cNvSpPr/>
          <p:nvPr/>
        </p:nvSpPr>
        <p:spPr>
          <a:xfrm>
            <a:off x="3638520" y="2104920"/>
            <a:ext cx="113760" cy="8640"/>
          </a:xfrm>
          <a:prstGeom prst="roundRect">
            <a:avLst>
              <a:gd name="adj" fmla="val 16667"/>
            </a:avLst>
          </a:prstGeom>
          <a:solidFill>
            <a:srgbClr val="FFE0A7"/>
          </a:solidFill>
          <a:ln w="0">
            <a:noFill/>
          </a:ln>
        </p:spPr>
        <p:style>
          <a:lnRef idx="0"/>
          <a:fillRef idx="0"/>
          <a:effectRef idx="0"/>
          <a:fontRef idx="minor"/>
        </p:style>
        <p:txBody>
          <a:bodyPr vertOverflow="clip" lIns="56880" tIns="-36720" rIns="56880" bIns="-36720" anchor="ctr">
            <a:noAutofit/>
          </a:bodyPr>
          <a:p>
            <a:endParaRPr lang="en-US" sz="1800" b="0" u="none" strike="noStrike">
              <a:solidFill>
                <a:srgbClr val="000000"/>
              </a:solidFill>
              <a:effectLst/>
              <a:uFillTx/>
              <a:latin typeface="OpenSymbol"/>
            </a:endParaRPr>
          </a:p>
        </p:txBody>
      </p:sp>
      <p:sp>
        <p:nvSpPr>
          <p:cNvPr id="28" name=""/>
          <p:cNvSpPr/>
          <p:nvPr/>
        </p:nvSpPr>
        <p:spPr>
          <a:xfrm>
            <a:off x="5276880" y="2104920"/>
            <a:ext cx="113760" cy="8640"/>
          </a:xfrm>
          <a:prstGeom prst="roundRect">
            <a:avLst>
              <a:gd name="adj" fmla="val 16667"/>
            </a:avLst>
          </a:prstGeom>
          <a:solidFill>
            <a:srgbClr val="FFE0A7"/>
          </a:solidFill>
          <a:ln w="0">
            <a:noFill/>
          </a:ln>
        </p:spPr>
        <p:style>
          <a:lnRef idx="0"/>
          <a:fillRef idx="0"/>
          <a:effectRef idx="0"/>
          <a:fontRef idx="minor"/>
        </p:style>
        <p:txBody>
          <a:bodyPr vertOverflow="clip" lIns="56880" tIns="-36720" rIns="56880" bIns="-36720" anchor="ctr">
            <a:noAutofit/>
          </a:bodyPr>
          <a:p>
            <a:endParaRPr lang="en-US" sz="1800" b="0" u="none" strike="noStrike">
              <a:solidFill>
                <a:srgbClr val="000000"/>
              </a:solidFill>
              <a:effectLst/>
              <a:uFillTx/>
              <a:latin typeface="OpenSymbol"/>
            </a:endParaRPr>
          </a:p>
        </p:txBody>
      </p:sp>
      <p:sp>
        <p:nvSpPr>
          <p:cNvPr id="29" name=""/>
          <p:cNvSpPr/>
          <p:nvPr/>
        </p:nvSpPr>
        <p:spPr>
          <a:xfrm>
            <a:off x="6915240" y="2104920"/>
            <a:ext cx="113760" cy="8640"/>
          </a:xfrm>
          <a:prstGeom prst="roundRect">
            <a:avLst>
              <a:gd name="adj" fmla="val 16667"/>
            </a:avLst>
          </a:prstGeom>
          <a:solidFill>
            <a:srgbClr val="FFE0A7"/>
          </a:solidFill>
          <a:ln w="0">
            <a:noFill/>
          </a:ln>
        </p:spPr>
        <p:style>
          <a:lnRef idx="0"/>
          <a:fillRef idx="0"/>
          <a:effectRef idx="0"/>
          <a:fontRef idx="minor"/>
        </p:style>
        <p:txBody>
          <a:bodyPr vertOverflow="clip" lIns="56880" tIns="-36720" rIns="56880" bIns="-36720" anchor="ctr">
            <a:noAutofit/>
          </a:bodyPr>
          <a:p>
            <a:endParaRPr lang="en-US" sz="1800" b="0" u="none" strike="noStrike">
              <a:solidFill>
                <a:srgbClr val="000000"/>
              </a:solidFill>
              <a:effectLst/>
              <a:uFillTx/>
              <a:latin typeface="OpenSymbol"/>
            </a:endParaRPr>
          </a:p>
        </p:txBody>
      </p:sp>
      <p:sp>
        <p:nvSpPr>
          <p:cNvPr id="30" name=""/>
          <p:cNvSpPr/>
          <p:nvPr/>
        </p:nvSpPr>
        <p:spPr>
          <a:xfrm>
            <a:off x="476280" y="2000160"/>
            <a:ext cx="1523160" cy="20880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31" name=""/>
          <p:cNvSpPr/>
          <p:nvPr/>
        </p:nvSpPr>
        <p:spPr>
          <a:xfrm>
            <a:off x="1238400" y="2209680"/>
            <a:ext cx="8640" cy="323280"/>
          </a:xfrm>
          <a:prstGeom prst="roundRect">
            <a:avLst>
              <a:gd name="adj" fmla="val 16667"/>
            </a:avLst>
          </a:prstGeom>
          <a:solidFill>
            <a:srgbClr val="FFE0A7"/>
          </a:solidFill>
          <a:ln w="0">
            <a:noFill/>
          </a:ln>
        </p:spPr>
        <p:style>
          <a:lnRef idx="0"/>
          <a:fillRef idx="0"/>
          <a:effectRef idx="0"/>
          <a:fontRef idx="minor"/>
        </p:style>
        <p:txBody>
          <a:bodyPr vertOverflow="clip" lIns="4320" tIns="45000" rIns="4320" bIns="45000" anchor="ctr">
            <a:noAutofit/>
          </a:bodyPr>
          <a:p>
            <a:endParaRPr lang="en-US" sz="1800" b="0" u="none" strike="noStrike">
              <a:solidFill>
                <a:srgbClr val="000000"/>
              </a:solidFill>
              <a:effectLst/>
              <a:uFillTx/>
              <a:latin typeface="OpenSymbol"/>
            </a:endParaRPr>
          </a:p>
        </p:txBody>
      </p:sp>
      <p:sp>
        <p:nvSpPr>
          <p:cNvPr id="32" name=""/>
          <p:cNvSpPr/>
          <p:nvPr/>
        </p:nvSpPr>
        <p:spPr>
          <a:xfrm>
            <a:off x="2114640" y="2000160"/>
            <a:ext cx="1523160" cy="20880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33" name=""/>
          <p:cNvSpPr/>
          <p:nvPr/>
        </p:nvSpPr>
        <p:spPr>
          <a:xfrm>
            <a:off x="2876400" y="2209680"/>
            <a:ext cx="8640" cy="323280"/>
          </a:xfrm>
          <a:prstGeom prst="roundRect">
            <a:avLst>
              <a:gd name="adj" fmla="val 16667"/>
            </a:avLst>
          </a:prstGeom>
          <a:solidFill>
            <a:srgbClr val="FFE0A7"/>
          </a:solidFill>
          <a:ln w="0">
            <a:noFill/>
          </a:ln>
        </p:spPr>
        <p:style>
          <a:lnRef idx="0"/>
          <a:fillRef idx="0"/>
          <a:effectRef idx="0"/>
          <a:fontRef idx="minor"/>
        </p:style>
        <p:txBody>
          <a:bodyPr vertOverflow="clip" lIns="4320" tIns="45000" rIns="4320" bIns="45000" anchor="ctr">
            <a:noAutofit/>
          </a:bodyPr>
          <a:p>
            <a:endParaRPr lang="en-US" sz="1800" b="0" u="none" strike="noStrike">
              <a:solidFill>
                <a:srgbClr val="000000"/>
              </a:solidFill>
              <a:effectLst/>
              <a:uFillTx/>
              <a:latin typeface="OpenSymbol"/>
            </a:endParaRPr>
          </a:p>
        </p:txBody>
      </p:sp>
      <p:sp>
        <p:nvSpPr>
          <p:cNvPr id="34" name=""/>
          <p:cNvSpPr/>
          <p:nvPr/>
        </p:nvSpPr>
        <p:spPr>
          <a:xfrm>
            <a:off x="3753000" y="2000160"/>
            <a:ext cx="1523160" cy="20880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35" name=""/>
          <p:cNvSpPr/>
          <p:nvPr/>
        </p:nvSpPr>
        <p:spPr>
          <a:xfrm>
            <a:off x="4514760" y="2209680"/>
            <a:ext cx="8640" cy="323280"/>
          </a:xfrm>
          <a:prstGeom prst="roundRect">
            <a:avLst>
              <a:gd name="adj" fmla="val 16667"/>
            </a:avLst>
          </a:prstGeom>
          <a:solidFill>
            <a:srgbClr val="FFE0A7"/>
          </a:solidFill>
          <a:ln w="0">
            <a:noFill/>
          </a:ln>
        </p:spPr>
        <p:style>
          <a:lnRef idx="0"/>
          <a:fillRef idx="0"/>
          <a:effectRef idx="0"/>
          <a:fontRef idx="minor"/>
        </p:style>
        <p:txBody>
          <a:bodyPr vertOverflow="clip" lIns="4320" tIns="45000" rIns="4320" bIns="45000" anchor="ctr">
            <a:noAutofit/>
          </a:bodyPr>
          <a:p>
            <a:endParaRPr lang="en-US" sz="1800" b="0" u="none" strike="noStrike">
              <a:solidFill>
                <a:srgbClr val="000000"/>
              </a:solidFill>
              <a:effectLst/>
              <a:uFillTx/>
              <a:latin typeface="OpenSymbol"/>
            </a:endParaRPr>
          </a:p>
        </p:txBody>
      </p:sp>
      <p:sp>
        <p:nvSpPr>
          <p:cNvPr id="36" name=""/>
          <p:cNvSpPr/>
          <p:nvPr/>
        </p:nvSpPr>
        <p:spPr>
          <a:xfrm>
            <a:off x="5391000" y="2000160"/>
            <a:ext cx="1523160" cy="20880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37" name=""/>
          <p:cNvSpPr/>
          <p:nvPr/>
        </p:nvSpPr>
        <p:spPr>
          <a:xfrm>
            <a:off x="6153120" y="2209680"/>
            <a:ext cx="8640" cy="323280"/>
          </a:xfrm>
          <a:prstGeom prst="roundRect">
            <a:avLst>
              <a:gd name="adj" fmla="val 16667"/>
            </a:avLst>
          </a:prstGeom>
          <a:solidFill>
            <a:srgbClr val="FFE0A7"/>
          </a:solidFill>
          <a:ln w="0">
            <a:noFill/>
          </a:ln>
        </p:spPr>
        <p:style>
          <a:lnRef idx="0"/>
          <a:fillRef idx="0"/>
          <a:effectRef idx="0"/>
          <a:fontRef idx="minor"/>
        </p:style>
        <p:txBody>
          <a:bodyPr vertOverflow="clip" lIns="4320" tIns="45000" rIns="4320" bIns="45000" anchor="ctr">
            <a:noAutofit/>
          </a:bodyPr>
          <a:p>
            <a:endParaRPr lang="en-US" sz="1800" b="0" u="none" strike="noStrike">
              <a:solidFill>
                <a:srgbClr val="000000"/>
              </a:solidFill>
              <a:effectLst/>
              <a:uFillTx/>
              <a:latin typeface="OpenSymbol"/>
            </a:endParaRPr>
          </a:p>
        </p:txBody>
      </p:sp>
      <p:sp>
        <p:nvSpPr>
          <p:cNvPr id="38" name=""/>
          <p:cNvSpPr/>
          <p:nvPr/>
        </p:nvSpPr>
        <p:spPr>
          <a:xfrm>
            <a:off x="7029360" y="2000160"/>
            <a:ext cx="1523160" cy="20880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39" name=""/>
          <p:cNvSpPr/>
          <p:nvPr/>
        </p:nvSpPr>
        <p:spPr>
          <a:xfrm>
            <a:off x="7791480" y="2209680"/>
            <a:ext cx="8640" cy="323280"/>
          </a:xfrm>
          <a:prstGeom prst="roundRect">
            <a:avLst>
              <a:gd name="adj" fmla="val 16667"/>
            </a:avLst>
          </a:prstGeom>
          <a:solidFill>
            <a:srgbClr val="FFE0A7"/>
          </a:solidFill>
          <a:ln w="0">
            <a:noFill/>
          </a:ln>
        </p:spPr>
        <p:style>
          <a:lnRef idx="0"/>
          <a:fillRef idx="0"/>
          <a:effectRef idx="0"/>
          <a:fontRef idx="minor"/>
        </p:style>
        <p:txBody>
          <a:bodyPr vertOverflow="clip" lIns="4320" tIns="45000" rIns="4320" bIns="45000" anchor="ctr">
            <a:noAutofit/>
          </a:bodyPr>
          <a:p>
            <a:endParaRPr lang="en-US" sz="1800" b="0" u="none" strike="noStrike">
              <a:solidFill>
                <a:srgbClr val="000000"/>
              </a:solidFill>
              <a:effectLst/>
              <a:uFillTx/>
              <a:latin typeface="OpenSymbol"/>
            </a:endParaRPr>
          </a:p>
        </p:txBody>
      </p:sp>
      <p:sp>
        <p:nvSpPr>
          <p:cNvPr id="40" name=""/>
          <p:cNvSpPr/>
          <p:nvPr/>
        </p:nvSpPr>
        <p:spPr>
          <a:xfrm>
            <a:off x="476280" y="380880"/>
            <a:ext cx="8190720" cy="399240"/>
          </a:xfrm>
          <a:prstGeom prst="rect">
            <a:avLst/>
          </a:prstGeom>
          <a:noFill/>
          <a:ln w="0">
            <a:noFill/>
          </a:ln>
        </p:spPr>
        <p:style>
          <a:lnRef idx="0"/>
          <a:fillRef idx="0"/>
          <a:effectRef idx="0"/>
          <a:fontRef idx="minor"/>
        </p:style>
        <p:txBody>
          <a:bodyPr lIns="90000" tIns="45000" rIns="90000" bIns="45000" anchor="t">
            <a:normAutofit fontScale="85000" lnSpcReduction="9999"/>
          </a:bodyPr>
          <a:p>
            <a:pPr defTabSz="914400">
              <a:lnSpc>
                <a:spcPct val="100000"/>
              </a:lnSpc>
              <a:tabLst>
                <a:tab pos="0" algn="l"/>
              </a:tabLst>
            </a:pPr>
            <a:r>
              <a:rPr lang="en-US" sz="2600" b="0" u="none" strike="noStrike">
                <a:solidFill>
                  <a:srgbClr val="191919"/>
                </a:solidFill>
                <a:effectLst/>
                <a:uFillTx/>
                <a:latin typeface="Lexend Deca"/>
              </a:rPr>
              <a:t>Planora Workflow</a:t>
            </a:r>
            <a:endParaRPr lang="en-US" sz="2600" b="0" u="none" strike="noStrike">
              <a:solidFill>
                <a:srgbClr val="000000"/>
              </a:solidFill>
              <a:effectLst/>
              <a:uFillTx/>
              <a:latin typeface="Arial"/>
            </a:endParaRPr>
          </a:p>
        </p:txBody>
      </p:sp>
      <p:sp>
        <p:nvSpPr>
          <p:cNvPr id="41" name=""/>
          <p:cNvSpPr/>
          <p:nvPr/>
        </p:nvSpPr>
        <p:spPr>
          <a:xfrm>
            <a:off x="476280" y="1219320"/>
            <a:ext cx="1523160" cy="36108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400" b="0" u="none" strike="noStrike">
                <a:solidFill>
                  <a:srgbClr val="191919"/>
                </a:solidFill>
                <a:effectLst/>
                <a:uFillTx/>
                <a:latin typeface="Lexend Deca"/>
              </a:rPr>
              <a:t>Import Data</a:t>
            </a:r>
            <a:endParaRPr lang="en-US" sz="1400" b="0" u="none" strike="noStrike">
              <a:solidFill>
                <a:srgbClr val="000000"/>
              </a:solidFill>
              <a:effectLst/>
              <a:uFillTx/>
              <a:latin typeface="Arial"/>
            </a:endParaRPr>
          </a:p>
        </p:txBody>
      </p:sp>
      <p:sp>
        <p:nvSpPr>
          <p:cNvPr id="42" name=""/>
          <p:cNvSpPr/>
          <p:nvPr/>
        </p:nvSpPr>
        <p:spPr>
          <a:xfrm>
            <a:off x="476280" y="2619360"/>
            <a:ext cx="1523160" cy="88524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914400">
              <a:lnSpc>
                <a:spcPct val="100000"/>
              </a:lnSpc>
              <a:tabLst>
                <a:tab pos="0" algn="l"/>
              </a:tabLst>
            </a:pPr>
            <a:r>
              <a:rPr lang="en-US" sz="1200" b="0" u="none" strike="noStrike">
                <a:solidFill>
                  <a:srgbClr val="191919"/>
                </a:solidFill>
                <a:effectLst/>
                <a:uFillTx/>
                <a:latin typeface="Catamaran"/>
              </a:rPr>
              <a:t>Ingest course data from CSV or API and prepare inputs for scheduling.</a:t>
            </a:r>
            <a:endParaRPr lang="en-US" sz="1200" b="0" u="none" strike="noStrike">
              <a:solidFill>
                <a:srgbClr val="000000"/>
              </a:solidFill>
              <a:effectLst/>
              <a:uFillTx/>
              <a:latin typeface="Arial"/>
            </a:endParaRPr>
          </a:p>
        </p:txBody>
      </p:sp>
      <p:sp>
        <p:nvSpPr>
          <p:cNvPr id="43" name=""/>
          <p:cNvSpPr/>
          <p:nvPr/>
        </p:nvSpPr>
        <p:spPr>
          <a:xfrm>
            <a:off x="2114640" y="1219320"/>
            <a:ext cx="1523160" cy="58032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400" b="0" u="none" strike="noStrike">
                <a:solidFill>
                  <a:srgbClr val="191919"/>
                </a:solidFill>
                <a:effectLst/>
                <a:uFillTx/>
                <a:latin typeface="Lexend Deca"/>
              </a:rPr>
              <a:t>Build Schedules</a:t>
            </a:r>
            <a:endParaRPr lang="en-US" sz="1400" b="0" u="none" strike="noStrike">
              <a:solidFill>
                <a:srgbClr val="000000"/>
              </a:solidFill>
              <a:effectLst/>
              <a:uFillTx/>
              <a:latin typeface="Arial"/>
            </a:endParaRPr>
          </a:p>
        </p:txBody>
      </p:sp>
      <p:sp>
        <p:nvSpPr>
          <p:cNvPr id="44" name=""/>
          <p:cNvSpPr/>
          <p:nvPr/>
        </p:nvSpPr>
        <p:spPr>
          <a:xfrm>
            <a:off x="2114640" y="2619360"/>
            <a:ext cx="1523160" cy="106596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914400">
              <a:lnSpc>
                <a:spcPct val="100000"/>
              </a:lnSpc>
              <a:tabLst>
                <a:tab pos="0" algn="l"/>
              </a:tabLst>
            </a:pPr>
            <a:r>
              <a:rPr lang="en-US" sz="1200" b="0" u="none" strike="noStrike">
                <a:solidFill>
                  <a:srgbClr val="191919"/>
                </a:solidFill>
                <a:effectLst/>
                <a:uFillTx/>
                <a:latin typeface="Catamaran"/>
              </a:rPr>
              <a:t>UI supports drag/drop or form-based creation to assemble candidate timetables.</a:t>
            </a:r>
            <a:endParaRPr lang="en-US" sz="1200" b="0" u="none" strike="noStrike">
              <a:solidFill>
                <a:srgbClr val="000000"/>
              </a:solidFill>
              <a:effectLst/>
              <a:uFillTx/>
              <a:latin typeface="Arial"/>
            </a:endParaRPr>
          </a:p>
        </p:txBody>
      </p:sp>
      <p:sp>
        <p:nvSpPr>
          <p:cNvPr id="45" name=""/>
          <p:cNvSpPr/>
          <p:nvPr/>
        </p:nvSpPr>
        <p:spPr>
          <a:xfrm>
            <a:off x="3753000" y="1219320"/>
            <a:ext cx="1523160" cy="36108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400" b="0" u="none" strike="noStrike">
                <a:solidFill>
                  <a:srgbClr val="191919"/>
                </a:solidFill>
                <a:effectLst/>
                <a:uFillTx/>
                <a:latin typeface="Lexend Deca"/>
              </a:rPr>
              <a:t>Conflict Check</a:t>
            </a:r>
            <a:endParaRPr lang="en-US" sz="1400" b="0" u="none" strike="noStrike">
              <a:solidFill>
                <a:srgbClr val="000000"/>
              </a:solidFill>
              <a:effectLst/>
              <a:uFillTx/>
              <a:latin typeface="Arial"/>
            </a:endParaRPr>
          </a:p>
        </p:txBody>
      </p:sp>
      <p:sp>
        <p:nvSpPr>
          <p:cNvPr id="46" name=""/>
          <p:cNvSpPr/>
          <p:nvPr/>
        </p:nvSpPr>
        <p:spPr>
          <a:xfrm>
            <a:off x="3753000" y="2619360"/>
            <a:ext cx="1523160" cy="106596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200" b="0" u="none" strike="noStrike">
                <a:solidFill>
                  <a:srgbClr val="191919"/>
                </a:solidFill>
                <a:effectLst/>
                <a:uFillTx/>
                <a:latin typeface="Catamaran"/>
              </a:rPr>
              <a:t>Automated detection flags conflicts with visual cues for quick resolution.</a:t>
            </a:r>
            <a:endParaRPr lang="en-US" sz="1200" b="0" u="none" strike="noStrike">
              <a:solidFill>
                <a:srgbClr val="000000"/>
              </a:solidFill>
              <a:effectLst/>
              <a:uFillTx/>
              <a:latin typeface="Arial"/>
            </a:endParaRPr>
          </a:p>
        </p:txBody>
      </p:sp>
      <p:sp>
        <p:nvSpPr>
          <p:cNvPr id="47" name=""/>
          <p:cNvSpPr/>
          <p:nvPr/>
        </p:nvSpPr>
        <p:spPr>
          <a:xfrm>
            <a:off x="5391000" y="1219320"/>
            <a:ext cx="1523160" cy="58032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400" b="0" u="none" strike="noStrike">
                <a:solidFill>
                  <a:srgbClr val="191919"/>
                </a:solidFill>
                <a:effectLst/>
                <a:uFillTx/>
                <a:latin typeface="Lexend Deca"/>
              </a:rPr>
              <a:t>Compare &amp; Persist</a:t>
            </a:r>
            <a:endParaRPr lang="en-US" sz="1400" b="0" u="none" strike="noStrike">
              <a:solidFill>
                <a:srgbClr val="000000"/>
              </a:solidFill>
              <a:effectLst/>
              <a:uFillTx/>
              <a:latin typeface="Arial"/>
            </a:endParaRPr>
          </a:p>
        </p:txBody>
      </p:sp>
      <p:sp>
        <p:nvSpPr>
          <p:cNvPr id="48" name=""/>
          <p:cNvSpPr/>
          <p:nvPr/>
        </p:nvSpPr>
        <p:spPr>
          <a:xfrm>
            <a:off x="5391000" y="2619360"/>
            <a:ext cx="1523160" cy="106596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200" b="0" u="none" strike="noStrike">
                <a:solidFill>
                  <a:srgbClr val="191919"/>
                </a:solidFill>
                <a:effectLst/>
                <a:uFillTx/>
                <a:latin typeface="Catamaran"/>
              </a:rPr>
              <a:t>Side-by-side timelines compare options; selected schedules are saved or exported.</a:t>
            </a:r>
            <a:endParaRPr lang="en-US" sz="1200" b="0" u="none" strike="noStrike">
              <a:solidFill>
                <a:srgbClr val="000000"/>
              </a:solidFill>
              <a:effectLst/>
              <a:uFillTx/>
              <a:latin typeface="Arial"/>
            </a:endParaRPr>
          </a:p>
        </p:txBody>
      </p:sp>
      <p:sp>
        <p:nvSpPr>
          <p:cNvPr id="49" name=""/>
          <p:cNvSpPr/>
          <p:nvPr/>
        </p:nvSpPr>
        <p:spPr>
          <a:xfrm>
            <a:off x="7029360" y="1219320"/>
            <a:ext cx="1523160" cy="36108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100000"/>
              </a:lnSpc>
              <a:tabLst>
                <a:tab pos="0" algn="l"/>
              </a:tabLst>
            </a:pPr>
            <a:r>
              <a:rPr lang="en-US" sz="1400" b="0" u="none" strike="noStrike">
                <a:solidFill>
                  <a:srgbClr val="191919"/>
                </a:solidFill>
                <a:effectLst/>
                <a:uFillTx/>
                <a:latin typeface="Lexend Deca"/>
              </a:rPr>
              <a:t>Note</a:t>
            </a:r>
            <a:endParaRPr lang="en-US" sz="1400" b="0" u="none" strike="noStrike">
              <a:solidFill>
                <a:srgbClr val="000000"/>
              </a:solidFill>
              <a:effectLst/>
              <a:uFillTx/>
              <a:latin typeface="Arial"/>
            </a:endParaRPr>
          </a:p>
        </p:txBody>
      </p:sp>
      <p:sp>
        <p:nvSpPr>
          <p:cNvPr id="50" name=""/>
          <p:cNvSpPr/>
          <p:nvPr/>
        </p:nvSpPr>
        <p:spPr>
          <a:xfrm>
            <a:off x="7029360" y="2619360"/>
            <a:ext cx="1523160" cy="88524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914400">
              <a:lnSpc>
                <a:spcPct val="100000"/>
              </a:lnSpc>
              <a:tabLst>
                <a:tab pos="0" algn="l"/>
              </a:tabLst>
            </a:pPr>
            <a:r>
              <a:rPr lang="en-US" sz="1200" b="0" u="none" strike="noStrike">
                <a:solidFill>
                  <a:srgbClr val="191919"/>
                </a:solidFill>
                <a:effectLst/>
                <a:uFillTx/>
                <a:latin typeface="Catamaran"/>
              </a:rPr>
              <a:t>Each step links to frontend pages, backend endpoints, and services.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
          <p:cNvSpPr/>
          <p:nvPr/>
        </p:nvSpPr>
        <p:spPr>
          <a:xfrm>
            <a:off x="4952880" y="343080"/>
            <a:ext cx="3714120" cy="129456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52" name=""/>
          <p:cNvSpPr/>
          <p:nvPr/>
        </p:nvSpPr>
        <p:spPr>
          <a:xfrm>
            <a:off x="4952880" y="1847880"/>
            <a:ext cx="3714120" cy="129456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53" name=""/>
          <p:cNvSpPr/>
          <p:nvPr/>
        </p:nvSpPr>
        <p:spPr>
          <a:xfrm>
            <a:off x="4952880" y="3352680"/>
            <a:ext cx="3714120" cy="1294560"/>
          </a:xfrm>
          <a:prstGeom prst="roundRect">
            <a:avLst>
              <a:gd name="adj" fmla="val 16667"/>
            </a:avLst>
          </a:prstGeom>
          <a:noFill/>
          <a:ln w="9525">
            <a:solidFill>
              <a:srgbClr val="191919"/>
            </a:solidFill>
            <a:round/>
          </a:ln>
        </p:spPr>
        <p:style>
          <a:lnRef idx="0"/>
          <a:fillRef idx="0"/>
          <a:effectRef idx="0"/>
          <a:fontRef idx="minor"/>
        </p:style>
        <p:txBody>
          <a:bodyPr vertOverflow="clip" lIns="90000" tIns="45000" rIns="90000" bIns="45000" anchor="ctr">
            <a:noAutofit/>
          </a:bodyPr>
          <a:p>
            <a:endParaRPr lang="en-US" sz="1800" b="0" u="none" strike="noStrike">
              <a:solidFill>
                <a:srgbClr val="000000"/>
              </a:solidFill>
              <a:effectLst/>
              <a:uFillTx/>
              <a:latin typeface="OpenSymbol"/>
            </a:endParaRPr>
          </a:p>
        </p:txBody>
      </p:sp>
      <p:sp>
        <p:nvSpPr>
          <p:cNvPr id="54" name=""/>
          <p:cNvSpPr/>
          <p:nvPr/>
        </p:nvSpPr>
        <p:spPr>
          <a:xfrm>
            <a:off x="476280" y="380880"/>
            <a:ext cx="3618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Implemented Features</a:t>
            </a:r>
            <a:endParaRPr lang="en-US" sz="2400" b="0" u="none" strike="noStrike">
              <a:solidFill>
                <a:srgbClr val="000000"/>
              </a:solidFill>
              <a:effectLst/>
              <a:uFillTx/>
              <a:latin typeface="Arial"/>
            </a:endParaRPr>
          </a:p>
        </p:txBody>
      </p:sp>
      <p:sp>
        <p:nvSpPr>
          <p:cNvPr id="55" name=""/>
          <p:cNvSpPr/>
          <p:nvPr/>
        </p:nvSpPr>
        <p:spPr>
          <a:xfrm>
            <a:off x="476280" y="3429000"/>
            <a:ext cx="3618720" cy="58032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400" b="0" u="none" strike="noStrike">
                <a:solidFill>
                  <a:srgbClr val="191919"/>
                </a:solidFill>
                <a:effectLst/>
                <a:uFillTx/>
                <a:latin typeface="Catamaran"/>
              </a:rPr>
              <a:t>Inventory of repo-installed features with source/file references and UI screenshots.</a:t>
            </a:r>
            <a:endParaRPr lang="en-US" sz="1400" b="0" u="none" strike="noStrike">
              <a:solidFill>
                <a:srgbClr val="000000"/>
              </a:solidFill>
              <a:effectLst/>
              <a:uFillTx/>
              <a:latin typeface="Arial"/>
            </a:endParaRPr>
          </a:p>
        </p:txBody>
      </p:sp>
      <p:sp>
        <p:nvSpPr>
          <p:cNvPr id="56" name=""/>
          <p:cNvSpPr/>
          <p:nvPr/>
        </p:nvSpPr>
        <p:spPr>
          <a:xfrm>
            <a:off x="5219640" y="380880"/>
            <a:ext cx="3180600" cy="70416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3600" b="0" u="none" strike="noStrike">
                <a:solidFill>
                  <a:srgbClr val="191919"/>
                </a:solidFill>
                <a:effectLst/>
                <a:uFillTx/>
                <a:latin typeface="Lexend Deca"/>
              </a:rPr>
              <a:t>14</a:t>
            </a:r>
            <a:endParaRPr lang="en-US" sz="3600" b="0" u="none" strike="noStrike">
              <a:solidFill>
                <a:srgbClr val="000000"/>
              </a:solidFill>
              <a:effectLst/>
              <a:uFillTx/>
              <a:latin typeface="Arial"/>
            </a:endParaRPr>
          </a:p>
        </p:txBody>
      </p:sp>
      <p:sp>
        <p:nvSpPr>
          <p:cNvPr id="57" name=""/>
          <p:cNvSpPr/>
          <p:nvPr/>
        </p:nvSpPr>
        <p:spPr>
          <a:xfrm>
            <a:off x="5877000" y="609480"/>
            <a:ext cx="3180600" cy="91368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200" b="0" u="none" strike="noStrike">
                <a:solidFill>
                  <a:srgbClr val="191919"/>
                </a:solidFill>
                <a:effectLst/>
                <a:uFillTx/>
                <a:latin typeface="Catamaran"/>
              </a:rPr>
              <a:t>UI views implemented: CourseImport.jsx, ScheduleBuilder.jsx, CompareSchedules.jsx, CourseSelector.jsx, ConflictDetectorView.jsx, SettingsView.jsx, and supporting panels; screenshots: assets/screensots</a:t>
            </a:r>
            <a:endParaRPr lang="en-US" sz="1200" b="0" u="none" strike="noStrike">
              <a:solidFill>
                <a:srgbClr val="000000"/>
              </a:solidFill>
              <a:effectLst/>
              <a:uFillTx/>
              <a:latin typeface="Arial"/>
            </a:endParaRPr>
          </a:p>
        </p:txBody>
      </p:sp>
      <p:sp>
        <p:nvSpPr>
          <p:cNvPr id="58" name=""/>
          <p:cNvSpPr/>
          <p:nvPr/>
        </p:nvSpPr>
        <p:spPr>
          <a:xfrm>
            <a:off x="5219640" y="1886040"/>
            <a:ext cx="3180600" cy="70416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3600" b="0" u="none" strike="noStrike">
                <a:solidFill>
                  <a:srgbClr val="191919"/>
                </a:solidFill>
                <a:effectLst/>
                <a:uFillTx/>
                <a:latin typeface="Lexend Deca"/>
              </a:rPr>
              <a:t>9</a:t>
            </a:r>
            <a:endParaRPr lang="en-US" sz="3600" b="0" u="none" strike="noStrike">
              <a:solidFill>
                <a:srgbClr val="000000"/>
              </a:solidFill>
              <a:effectLst/>
              <a:uFillTx/>
              <a:latin typeface="Arial"/>
            </a:endParaRPr>
          </a:p>
        </p:txBody>
      </p:sp>
      <p:sp>
        <p:nvSpPr>
          <p:cNvPr id="59" name=""/>
          <p:cNvSpPr/>
          <p:nvPr/>
        </p:nvSpPr>
        <p:spPr>
          <a:xfrm>
            <a:off x="5619600" y="2114640"/>
            <a:ext cx="3180600" cy="91368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200" b="0" u="none" strike="noStrike">
                <a:solidFill>
                  <a:srgbClr val="191919"/>
                </a:solidFill>
                <a:effectLst/>
                <a:uFillTx/>
                <a:latin typeface="Catamaran"/>
              </a:rPr>
              <a:t>Implemented APIs/endpoints: /api/import, /api/build, /api/detect-conflicts, /api/compare, /api/persist, /api/export, /api/settings, /api/logs, /api/status; code refs: src/server/routes/import.js:22, /</a:t>
            </a:r>
            <a:endParaRPr lang="en-US" sz="1200" b="0" u="none" strike="noStrike">
              <a:solidFill>
                <a:srgbClr val="000000"/>
              </a:solidFill>
              <a:effectLst/>
              <a:uFillTx/>
              <a:latin typeface="Arial"/>
            </a:endParaRPr>
          </a:p>
        </p:txBody>
      </p:sp>
      <p:sp>
        <p:nvSpPr>
          <p:cNvPr id="60" name=""/>
          <p:cNvSpPr/>
          <p:nvPr/>
        </p:nvSpPr>
        <p:spPr>
          <a:xfrm>
            <a:off x="5219640" y="3390840"/>
            <a:ext cx="3180600" cy="70416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3600" b="0" u="none" strike="noStrike">
                <a:solidFill>
                  <a:srgbClr val="191919"/>
                </a:solidFill>
                <a:effectLst/>
                <a:uFillTx/>
                <a:latin typeface="Lexend Deca"/>
              </a:rPr>
              <a:t>72</a:t>
            </a:r>
            <a:endParaRPr lang="en-US" sz="3600" b="0" u="none" strike="noStrike">
              <a:solidFill>
                <a:srgbClr val="000000"/>
              </a:solidFill>
              <a:effectLst/>
              <a:uFillTx/>
              <a:latin typeface="Arial"/>
            </a:endParaRPr>
          </a:p>
        </p:txBody>
      </p:sp>
      <p:sp>
        <p:nvSpPr>
          <p:cNvPr id="61" name=""/>
          <p:cNvSpPr/>
          <p:nvPr/>
        </p:nvSpPr>
        <p:spPr>
          <a:xfrm>
            <a:off x="5924520" y="3676680"/>
            <a:ext cx="3180600" cy="73260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200" b="0" u="none" strike="noStrike">
                <a:solidFill>
                  <a:srgbClr val="191919"/>
                </a:solidFill>
                <a:effectLst/>
                <a:uFillTx/>
                <a:latin typeface="Catamaran"/>
              </a:rPr>
              <a:t>Automated tests: unit/integration </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91919"/>
                </a:solidFill>
                <a:effectLst/>
                <a:uFillTx/>
                <a:latin typeface="Catamaran"/>
              </a:rPr>
              <a:t>coverage across UI, APIs, and services;</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91919"/>
                </a:solidFill>
                <a:effectLst/>
                <a:uFillTx/>
                <a:latin typeface="Catamaran"/>
              </a:rPr>
              <a:t> refs: tests/ (unit) and tests/integration/ (end-to-end)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
          <p:cNvSpPr/>
          <p:nvPr/>
        </p:nvSpPr>
        <p:spPr>
          <a:xfrm>
            <a:off x="609480" y="1181160"/>
            <a:ext cx="259020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63" name=""/>
          <p:cNvSpPr/>
          <p:nvPr/>
        </p:nvSpPr>
        <p:spPr>
          <a:xfrm>
            <a:off x="3333600" y="1181160"/>
            <a:ext cx="259020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64" name=""/>
          <p:cNvSpPr/>
          <p:nvPr/>
        </p:nvSpPr>
        <p:spPr>
          <a:xfrm>
            <a:off x="6058080" y="1181160"/>
            <a:ext cx="308556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65" name=""/>
          <p:cNvSpPr/>
          <p:nvPr/>
        </p:nvSpPr>
        <p:spPr>
          <a:xfrm>
            <a:off x="476280" y="111456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66" name=""/>
          <p:cNvSpPr/>
          <p:nvPr/>
        </p:nvSpPr>
        <p:spPr>
          <a:xfrm>
            <a:off x="3200400" y="111456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67" name=""/>
          <p:cNvSpPr/>
          <p:nvPr/>
        </p:nvSpPr>
        <p:spPr>
          <a:xfrm>
            <a:off x="5924520" y="111456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68" name=""/>
          <p:cNvSpPr/>
          <p:nvPr/>
        </p:nvSpPr>
        <p:spPr>
          <a:xfrm>
            <a:off x="0" y="3181320"/>
            <a:ext cx="47556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69" name=""/>
          <p:cNvSpPr/>
          <p:nvPr/>
        </p:nvSpPr>
        <p:spPr>
          <a:xfrm>
            <a:off x="609480" y="3181320"/>
            <a:ext cx="259020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70" name=""/>
          <p:cNvSpPr/>
          <p:nvPr/>
        </p:nvSpPr>
        <p:spPr>
          <a:xfrm>
            <a:off x="3333600" y="3181320"/>
            <a:ext cx="2590200" cy="18360"/>
          </a:xfrm>
          <a:prstGeom prst="rect">
            <a:avLst/>
          </a:prstGeom>
          <a:solidFill>
            <a:srgbClr val="FFE0A7"/>
          </a:solidFill>
          <a:ln w="0">
            <a:noFill/>
          </a:ln>
        </p:spPr>
        <p:style>
          <a:lnRef idx="0"/>
          <a:fillRef idx="0"/>
          <a:effectRef idx="0"/>
          <a:fontRef idx="minor"/>
        </p:style>
        <p:txBody>
          <a:bodyPr vertOverflow="clip" lIns="90000" tIns="-25920" rIns="90000" bIns="-25920" anchor="ctr">
            <a:noAutofit/>
          </a:bodyPr>
          <a:p>
            <a:endParaRPr lang="en-US" sz="1800" b="0" u="none" strike="noStrike">
              <a:solidFill>
                <a:srgbClr val="000000"/>
              </a:solidFill>
              <a:effectLst/>
              <a:uFillTx/>
              <a:latin typeface="OpenSymbol"/>
            </a:endParaRPr>
          </a:p>
        </p:txBody>
      </p:sp>
      <p:sp>
        <p:nvSpPr>
          <p:cNvPr id="71" name=""/>
          <p:cNvSpPr/>
          <p:nvPr/>
        </p:nvSpPr>
        <p:spPr>
          <a:xfrm>
            <a:off x="476280" y="311472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72" name=""/>
          <p:cNvSpPr/>
          <p:nvPr/>
        </p:nvSpPr>
        <p:spPr>
          <a:xfrm>
            <a:off x="3200400" y="311472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73" name=""/>
          <p:cNvSpPr/>
          <p:nvPr/>
        </p:nvSpPr>
        <p:spPr>
          <a:xfrm>
            <a:off x="5924520" y="3114720"/>
            <a:ext cx="132480" cy="132480"/>
          </a:xfrm>
          <a:prstGeom prst="ellipse">
            <a:avLst/>
          </a:prstGeom>
          <a:noFill/>
          <a:ln w="9525">
            <a:solidFill>
              <a:srgbClr val="191919"/>
            </a:solidFill>
            <a:round/>
          </a:ln>
        </p:spPr>
        <p:style>
          <a:lnRef idx="0"/>
          <a:fillRef idx="0"/>
          <a:effectRef idx="0"/>
          <a:fontRef idx="minor"/>
        </p:style>
        <p:txBody>
          <a:bodyPr vertOverflow="clip" lIns="66240" tIns="45000" rIns="66240" bIns="45000" anchor="ctr">
            <a:noAutofit/>
          </a:bodyPr>
          <a:p>
            <a:endParaRPr lang="en-US" sz="1800" b="0" u="none" strike="noStrike">
              <a:solidFill>
                <a:srgbClr val="000000"/>
              </a:solidFill>
              <a:effectLst/>
              <a:uFillTx/>
              <a:latin typeface="OpenSymbol"/>
            </a:endParaRPr>
          </a:p>
        </p:txBody>
      </p:sp>
      <p:sp>
        <p:nvSpPr>
          <p:cNvPr id="74" name=""/>
          <p:cNvSpPr/>
          <p:nvPr/>
        </p:nvSpPr>
        <p:spPr>
          <a:xfrm>
            <a:off x="476280" y="380880"/>
            <a:ext cx="8190720" cy="399240"/>
          </a:xfrm>
          <a:prstGeom prst="rect">
            <a:avLst/>
          </a:prstGeom>
          <a:noFill/>
          <a:ln w="0">
            <a:noFill/>
          </a:ln>
        </p:spPr>
        <p:style>
          <a:lnRef idx="0"/>
          <a:fillRef idx="0"/>
          <a:effectRef idx="0"/>
          <a:fontRef idx="minor"/>
        </p:style>
        <p:txBody>
          <a:bodyPr lIns="90000" tIns="45000" rIns="90000" bIns="45000" anchor="t">
            <a:normAutofit fontScale="85000" lnSpcReduction="9999"/>
          </a:bodyPr>
          <a:p>
            <a:pPr defTabSz="914400">
              <a:lnSpc>
                <a:spcPct val="100000"/>
              </a:lnSpc>
              <a:tabLst>
                <a:tab pos="0" algn="l"/>
              </a:tabLst>
            </a:pPr>
            <a:r>
              <a:rPr lang="en-US" sz="2600" b="0" u="none" strike="noStrike">
                <a:solidFill>
                  <a:srgbClr val="191919"/>
                </a:solidFill>
                <a:effectLst/>
                <a:uFillTx/>
                <a:latin typeface="Lexend Deca"/>
              </a:rPr>
              <a:t>User Workflow</a:t>
            </a:r>
            <a:endParaRPr lang="en-US" sz="2600" b="0" u="none" strike="noStrike">
              <a:solidFill>
                <a:srgbClr val="000000"/>
              </a:solidFill>
              <a:effectLst/>
              <a:uFillTx/>
              <a:latin typeface="Arial"/>
            </a:endParaRPr>
          </a:p>
        </p:txBody>
      </p:sp>
      <p:sp>
        <p:nvSpPr>
          <p:cNvPr id="75" name=""/>
          <p:cNvSpPr/>
          <p:nvPr/>
        </p:nvSpPr>
        <p:spPr>
          <a:xfrm>
            <a:off x="476280" y="129528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Login</a:t>
            </a:r>
            <a:endParaRPr lang="en-US" sz="1400" b="0" u="none" strike="noStrike">
              <a:solidFill>
                <a:srgbClr val="000000"/>
              </a:solidFill>
              <a:effectLst/>
              <a:uFillTx/>
              <a:latin typeface="Arial"/>
            </a:endParaRPr>
          </a:p>
        </p:txBody>
      </p:sp>
      <p:sp>
        <p:nvSpPr>
          <p:cNvPr id="76" name=""/>
          <p:cNvSpPr/>
          <p:nvPr/>
        </p:nvSpPr>
        <p:spPr>
          <a:xfrm>
            <a:off x="476280" y="1962000"/>
            <a:ext cx="2571120" cy="513720"/>
          </a:xfrm>
          <a:prstGeom prst="rect">
            <a:avLst/>
          </a:prstGeom>
          <a:noFill/>
          <a:ln w="0">
            <a:noFill/>
          </a:ln>
        </p:spPr>
        <p:style>
          <a:lnRef idx="0"/>
          <a:fillRef idx="0"/>
          <a:effectRef idx="0"/>
          <a:fontRef idx="minor"/>
        </p:style>
        <p:txBody>
          <a:bodyPr lIns="90000" tIns="45000" rIns="90000" bIns="45000" anchor="t">
            <a:normAutofit fontScale="85000" lnSpcReduction="9999"/>
          </a:bodyPr>
          <a:p>
            <a:pPr defTabSz="914400">
              <a:lnSpc>
                <a:spcPct val="100000"/>
              </a:lnSpc>
              <a:tabLst>
                <a:tab pos="0" algn="l"/>
              </a:tabLst>
            </a:pPr>
            <a:r>
              <a:rPr lang="en-US" sz="1200" b="0" u="none" strike="noStrike">
                <a:solidFill>
                  <a:srgbClr val="191919"/>
                </a:solidFill>
                <a:effectLst/>
                <a:uFillTx/>
                <a:latin typeface="Catamaran"/>
              </a:rPr>
              <a:t>User lands on the app, authenticates, and reaches the dashboard.</a:t>
            </a:r>
            <a:endParaRPr lang="en-US" sz="1200" b="0" u="none" strike="noStrike">
              <a:solidFill>
                <a:srgbClr val="000000"/>
              </a:solidFill>
              <a:effectLst/>
              <a:uFillTx/>
              <a:latin typeface="Arial"/>
            </a:endParaRPr>
          </a:p>
        </p:txBody>
      </p:sp>
      <p:sp>
        <p:nvSpPr>
          <p:cNvPr id="77" name=""/>
          <p:cNvSpPr/>
          <p:nvPr/>
        </p:nvSpPr>
        <p:spPr>
          <a:xfrm>
            <a:off x="3200400" y="129528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Course Search</a:t>
            </a:r>
            <a:endParaRPr lang="en-US" sz="1400" b="0" u="none" strike="noStrike">
              <a:solidFill>
                <a:srgbClr val="000000"/>
              </a:solidFill>
              <a:effectLst/>
              <a:uFillTx/>
              <a:latin typeface="Arial"/>
            </a:endParaRPr>
          </a:p>
        </p:txBody>
      </p:sp>
      <p:sp>
        <p:nvSpPr>
          <p:cNvPr id="78" name=""/>
          <p:cNvSpPr/>
          <p:nvPr/>
        </p:nvSpPr>
        <p:spPr>
          <a:xfrm>
            <a:off x="3200400" y="1962000"/>
            <a:ext cx="2571120" cy="51372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200" b="0" u="none" strike="noStrike">
                <a:solidFill>
                  <a:srgbClr val="191919"/>
                </a:solidFill>
                <a:effectLst/>
                <a:uFillTx/>
                <a:latin typeface="Catamaran"/>
              </a:rPr>
              <a:t>Search or import courses; results render as selectable course cards.</a:t>
            </a:r>
            <a:endParaRPr lang="en-US" sz="1200" b="0" u="none" strike="noStrike">
              <a:solidFill>
                <a:srgbClr val="000000"/>
              </a:solidFill>
              <a:effectLst/>
              <a:uFillTx/>
              <a:latin typeface="Arial"/>
            </a:endParaRPr>
          </a:p>
        </p:txBody>
      </p:sp>
      <p:sp>
        <p:nvSpPr>
          <p:cNvPr id="79" name=""/>
          <p:cNvSpPr/>
          <p:nvPr/>
        </p:nvSpPr>
        <p:spPr>
          <a:xfrm>
            <a:off x="5924520" y="129528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Add to Schedule</a:t>
            </a:r>
            <a:endParaRPr lang="en-US" sz="1400" b="0" u="none" strike="noStrike">
              <a:solidFill>
                <a:srgbClr val="000000"/>
              </a:solidFill>
              <a:effectLst/>
              <a:uFillTx/>
              <a:latin typeface="Arial"/>
            </a:endParaRPr>
          </a:p>
        </p:txBody>
      </p:sp>
      <p:sp>
        <p:nvSpPr>
          <p:cNvPr id="80" name=""/>
          <p:cNvSpPr/>
          <p:nvPr/>
        </p:nvSpPr>
        <p:spPr>
          <a:xfrm>
            <a:off x="5924520" y="1962000"/>
            <a:ext cx="2571120" cy="51372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Select a course and add it to the active </a:t>
            </a:r>
            <a:r>
              <a:rPr lang="en-US" sz="1200" b="0" u="none" strike="noStrike">
                <a:solidFill>
                  <a:srgbClr val="191919"/>
                </a:solidFill>
                <a:effectLst/>
                <a:uFillTx/>
                <a:latin typeface="Catamaran"/>
              </a:rPr>
              <a:t>timetable.</a:t>
            </a:r>
            <a:endParaRPr lang="en-US" sz="1200" b="0" u="none" strike="noStrike">
              <a:solidFill>
                <a:srgbClr val="000000"/>
              </a:solidFill>
              <a:effectLst/>
              <a:uFillTx/>
              <a:latin typeface="Arial"/>
            </a:endParaRPr>
          </a:p>
        </p:txBody>
      </p:sp>
      <p:sp>
        <p:nvSpPr>
          <p:cNvPr id="81" name=""/>
          <p:cNvSpPr/>
          <p:nvPr/>
        </p:nvSpPr>
        <p:spPr>
          <a:xfrm>
            <a:off x="476280" y="329580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Conflict Warning</a:t>
            </a:r>
            <a:endParaRPr lang="en-US" sz="1400" b="0" u="none" strike="noStrike">
              <a:solidFill>
                <a:srgbClr val="000000"/>
              </a:solidFill>
              <a:effectLst/>
              <a:uFillTx/>
              <a:latin typeface="Arial"/>
            </a:endParaRPr>
          </a:p>
        </p:txBody>
      </p:sp>
      <p:sp>
        <p:nvSpPr>
          <p:cNvPr id="82" name=""/>
          <p:cNvSpPr/>
          <p:nvPr/>
        </p:nvSpPr>
        <p:spPr>
          <a:xfrm>
            <a:off x="476280" y="3962520"/>
            <a:ext cx="2571120" cy="51372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Modal flags clashes; user can resolve by adjusting selections.</a:t>
            </a:r>
            <a:endParaRPr lang="en-US" sz="1200" b="0" u="none" strike="noStrike">
              <a:solidFill>
                <a:srgbClr val="000000"/>
              </a:solidFill>
              <a:effectLst/>
              <a:uFillTx/>
              <a:latin typeface="Arial"/>
            </a:endParaRPr>
          </a:p>
        </p:txBody>
      </p:sp>
      <p:sp>
        <p:nvSpPr>
          <p:cNvPr id="83" name=""/>
          <p:cNvSpPr/>
          <p:nvPr/>
        </p:nvSpPr>
        <p:spPr>
          <a:xfrm>
            <a:off x="3200400" y="329580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Compare Schedules</a:t>
            </a:r>
            <a:endParaRPr lang="en-US" sz="1400" b="0" u="none" strike="noStrike">
              <a:solidFill>
                <a:srgbClr val="000000"/>
              </a:solidFill>
              <a:effectLst/>
              <a:uFillTx/>
              <a:latin typeface="Arial"/>
            </a:endParaRPr>
          </a:p>
        </p:txBody>
      </p:sp>
      <p:sp>
        <p:nvSpPr>
          <p:cNvPr id="84" name=""/>
          <p:cNvSpPr/>
          <p:nvPr/>
        </p:nvSpPr>
        <p:spPr>
          <a:xfrm>
            <a:off x="3200400" y="3962520"/>
            <a:ext cx="2571120" cy="51372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00000"/>
              </a:lnSpc>
              <a:tabLst>
                <a:tab pos="0" algn="l"/>
              </a:tabLst>
            </a:pPr>
            <a:r>
              <a:rPr lang="en-US" sz="1200" b="0" u="none" strike="noStrike">
                <a:solidFill>
                  <a:srgbClr val="191919"/>
                </a:solidFill>
                <a:effectLst/>
                <a:uFillTx/>
                <a:latin typeface="Catamaran"/>
              </a:rPr>
              <a:t>Open the compare view to evaluate alternatives side-by-side.</a:t>
            </a:r>
            <a:endParaRPr lang="en-US" sz="1200" b="0" u="none" strike="noStrike">
              <a:solidFill>
                <a:srgbClr val="000000"/>
              </a:solidFill>
              <a:effectLst/>
              <a:uFillTx/>
              <a:latin typeface="Arial"/>
            </a:endParaRPr>
          </a:p>
        </p:txBody>
      </p:sp>
      <p:sp>
        <p:nvSpPr>
          <p:cNvPr id="85" name=""/>
          <p:cNvSpPr/>
          <p:nvPr/>
        </p:nvSpPr>
        <p:spPr>
          <a:xfrm>
            <a:off x="5924520" y="3295800"/>
            <a:ext cx="257112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0" u="none" strike="noStrike">
                <a:solidFill>
                  <a:srgbClr val="191919"/>
                </a:solidFill>
                <a:effectLst/>
                <a:uFillTx/>
                <a:latin typeface="Lexend Deca"/>
              </a:rPr>
              <a:t>Save/Export</a:t>
            </a:r>
            <a:endParaRPr lang="en-US" sz="1400" b="0" u="none" strike="noStrike">
              <a:solidFill>
                <a:srgbClr val="000000"/>
              </a:solidFill>
              <a:effectLst/>
              <a:uFillTx/>
              <a:latin typeface="Arial"/>
            </a:endParaRPr>
          </a:p>
        </p:txBody>
      </p:sp>
      <p:sp>
        <p:nvSpPr>
          <p:cNvPr id="86" name=""/>
          <p:cNvSpPr/>
          <p:nvPr/>
        </p:nvSpPr>
        <p:spPr>
          <a:xfrm>
            <a:off x="5924520" y="3962520"/>
            <a:ext cx="2571120" cy="51372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Save the timetable or export as ICS/CSV for external use.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Architecture Map</a:t>
            </a:r>
            <a:endParaRPr lang="en-US" sz="2400" b="0" u="none" strike="noStrike">
              <a:solidFill>
                <a:srgbClr val="000000"/>
              </a:solidFill>
              <a:effectLst/>
              <a:uFillTx/>
              <a:latin typeface="Arial"/>
            </a:endParaRPr>
          </a:p>
        </p:txBody>
      </p:sp>
      <p:sp>
        <p:nvSpPr>
          <p:cNvPr id="88" name=""/>
          <p:cNvSpPr/>
          <p:nvPr/>
        </p:nvSpPr>
        <p:spPr>
          <a:xfrm>
            <a:off x="476280" y="1238400"/>
            <a:ext cx="8190720" cy="167580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50000"/>
              </a:lnSpc>
              <a:tabLst>
                <a:tab pos="0" algn="l"/>
              </a:tabLst>
            </a:pPr>
            <a:r>
              <a:rPr lang="en-US" sz="1600" b="0" u="none" strike="noStrike">
                <a:solidFill>
                  <a:srgbClr val="191919"/>
                </a:solidFill>
                <a:effectLst/>
                <a:uFillTx/>
                <a:latin typeface="Catamaran"/>
              </a:rPr>
              <a:t>This slide presents the architecture diagram linking frontend, backend services, </a:t>
            </a:r>
            <a:r>
              <a:rPr lang="en-US" sz="1600" b="0" u="none" strike="noStrike">
                <a:solidFill>
                  <a:srgbClr val="191919"/>
                </a:solidFill>
                <a:effectLst/>
                <a:uFillTx/>
                <a:latin typeface="Catamaran"/>
              </a:rPr>
              <a:t>data storage, and synchronization layers, grounded in the repository structure. </a:t>
            </a:r>
            <a:r>
              <a:rPr lang="en-US" sz="1600" b="0" u="none" strike="noStrike">
                <a:solidFill>
                  <a:srgbClr val="191919"/>
                </a:solidFill>
                <a:effectLst/>
                <a:uFillTx/>
                <a:latin typeface="Catamaran"/>
              </a:rPr>
              <a:t>Directory mappings include /frontend, /backend, /api, and /db, showing how </a:t>
            </a:r>
            <a:r>
              <a:rPr lang="en-US" sz="1600" b="0" u="none" strike="noStrike">
                <a:solidFill>
                  <a:srgbClr val="191919"/>
                </a:solidFill>
                <a:effectLst/>
                <a:uFillTx/>
                <a:latin typeface="Catamaran"/>
              </a:rPr>
              <a:t>modules interact via HTTP, WebSocket, and background jobs. Frameworks and </a:t>
            </a:r>
            <a:r>
              <a:rPr lang="en-US" sz="1600" b="0" u="none" strike="noStrike">
                <a:solidFill>
                  <a:srgbClr val="191919"/>
                </a:solidFill>
                <a:effectLst/>
                <a:uFillTx/>
                <a:latin typeface="Catamaran"/>
              </a:rPr>
              <a:t>services are those deployed in the repo (as defined by the project), ensuring fidelity </a:t>
            </a:r>
            <a:r>
              <a:rPr lang="en-US" sz="1600" b="0" u="none" strike="noStrike">
                <a:solidFill>
                  <a:srgbClr val="191919"/>
                </a:solidFill>
                <a:effectLst/>
                <a:uFillTx/>
                <a:latin typeface="Catamaran"/>
              </a:rPr>
              <a:t>to</a:t>
            </a:r>
            <a:r>
              <a:rPr lang="zh-CN" sz="1600" b="0" u="none" strike="noStrike">
                <a:solidFill>
                  <a:srgbClr val="191919"/>
                </a:solidFill>
                <a:effectLst/>
                <a:uFillTx/>
                <a:latin typeface="Catamaran"/>
              </a:rPr>
              <a:t>実</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Data Lifecycle</a:t>
            </a:r>
            <a:endParaRPr lang="en-US" sz="2400" b="0" u="none" strike="noStrike">
              <a:solidFill>
                <a:srgbClr val="000000"/>
              </a:solidFill>
              <a:effectLst/>
              <a:uFillTx/>
              <a:latin typeface="Arial"/>
            </a:endParaRPr>
          </a:p>
        </p:txBody>
      </p:sp>
      <p:sp>
        <p:nvSpPr>
          <p:cNvPr id="90" name=""/>
          <p:cNvSpPr/>
          <p:nvPr/>
        </p:nvSpPr>
        <p:spPr>
          <a:xfrm>
            <a:off x="476280" y="1428840"/>
            <a:ext cx="2380680" cy="36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400" b="0" u="none" strike="noStrike">
                <a:solidFill>
                  <a:srgbClr val="191919"/>
                </a:solidFill>
                <a:effectLst/>
                <a:uFillTx/>
                <a:latin typeface="Catamaran"/>
              </a:rPr>
              <a:t>Creation latency</a:t>
            </a:r>
            <a:endParaRPr lang="en-US" sz="1400" b="0" u="none" strike="noStrike">
              <a:solidFill>
                <a:srgbClr val="000000"/>
              </a:solidFill>
              <a:effectLst/>
              <a:uFillTx/>
              <a:latin typeface="Arial"/>
            </a:endParaRPr>
          </a:p>
        </p:txBody>
      </p:sp>
      <p:sp>
        <p:nvSpPr>
          <p:cNvPr id="91" name=""/>
          <p:cNvSpPr/>
          <p:nvPr/>
        </p:nvSpPr>
        <p:spPr>
          <a:xfrm>
            <a:off x="3048120" y="1428840"/>
            <a:ext cx="2571120" cy="51372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200" b="0" u="none" strike="noStrike">
                <a:solidFill>
                  <a:srgbClr val="191919"/>
                </a:solidFill>
                <a:effectLst/>
                <a:uFillTx/>
                <a:latin typeface="Catamaran"/>
              </a:rPr>
              <a:t>End-to-end time to create a schedule block.</a:t>
            </a:r>
            <a:endParaRPr lang="en-US" sz="1200" b="0" u="none" strike="noStrike">
              <a:solidFill>
                <a:srgbClr val="000000"/>
              </a:solidFill>
              <a:effectLst/>
              <a:uFillTx/>
              <a:latin typeface="Arial"/>
            </a:endParaRPr>
          </a:p>
        </p:txBody>
      </p:sp>
      <p:sp>
        <p:nvSpPr>
          <p:cNvPr id="92" name=""/>
          <p:cNvSpPr/>
          <p:nvPr/>
        </p:nvSpPr>
        <p:spPr>
          <a:xfrm>
            <a:off x="5810400" y="1428840"/>
            <a:ext cx="2856960" cy="704160"/>
          </a:xfrm>
          <a:prstGeom prst="rect">
            <a:avLst/>
          </a:prstGeom>
          <a:noFill/>
          <a:ln w="0">
            <a:noFill/>
          </a:ln>
        </p:spPr>
        <p:style>
          <a:lnRef idx="0"/>
          <a:fillRef idx="0"/>
          <a:effectRef idx="0"/>
          <a:fontRef idx="minor"/>
        </p:style>
        <p:txBody>
          <a:bodyPr lIns="90000" tIns="45000" rIns="90000" bIns="45000" anchor="ctr">
            <a:normAutofit/>
          </a:bodyPr>
          <a:p>
            <a:pPr algn="r" defTabSz="914400">
              <a:lnSpc>
                <a:spcPct val="100000"/>
              </a:lnSpc>
              <a:tabLst>
                <a:tab pos="0" algn="l"/>
              </a:tabLst>
            </a:pPr>
            <a:r>
              <a:rPr lang="en-US" sz="3600" b="0" u="none" strike="noStrike">
                <a:solidFill>
                  <a:srgbClr val="191919"/>
                </a:solidFill>
                <a:effectLst/>
                <a:uFillTx/>
                <a:latin typeface="Lexend Deca"/>
              </a:rPr>
              <a:t>12 ms</a:t>
            </a:r>
            <a:endParaRPr lang="en-US" sz="3600" b="0" u="none" strike="noStrike">
              <a:solidFill>
                <a:srgbClr val="000000"/>
              </a:solidFill>
              <a:effectLst/>
              <a:uFillTx/>
              <a:latin typeface="Arial"/>
            </a:endParaRPr>
          </a:p>
        </p:txBody>
      </p:sp>
      <p:sp>
        <p:nvSpPr>
          <p:cNvPr id="93" name=""/>
          <p:cNvSpPr/>
          <p:nvPr/>
        </p:nvSpPr>
        <p:spPr>
          <a:xfrm>
            <a:off x="476280" y="2238480"/>
            <a:ext cx="2380680" cy="36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400" b="0" u="none" strike="noStrike">
                <a:solidFill>
                  <a:srgbClr val="191919"/>
                </a:solidFill>
                <a:effectLst/>
                <a:uFillTx/>
                <a:latin typeface="Catamaran"/>
              </a:rPr>
              <a:t>Conflict checks</a:t>
            </a:r>
            <a:endParaRPr lang="en-US" sz="1400" b="0" u="none" strike="noStrike">
              <a:solidFill>
                <a:srgbClr val="000000"/>
              </a:solidFill>
              <a:effectLst/>
              <a:uFillTx/>
              <a:latin typeface="Arial"/>
            </a:endParaRPr>
          </a:p>
        </p:txBody>
      </p:sp>
      <p:sp>
        <p:nvSpPr>
          <p:cNvPr id="94" name=""/>
          <p:cNvSpPr/>
          <p:nvPr/>
        </p:nvSpPr>
        <p:spPr>
          <a:xfrm>
            <a:off x="3048120" y="2238480"/>
            <a:ext cx="2571120" cy="51372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200" b="0" u="none" strike="noStrike">
                <a:solidFill>
                  <a:srgbClr val="191919"/>
                </a:solidFill>
                <a:effectLst/>
                <a:uFillTx/>
                <a:latin typeface="Catamaran"/>
              </a:rPr>
              <a:t>Throughput of conflict-detection during peak scheduling.</a:t>
            </a:r>
            <a:endParaRPr lang="en-US" sz="1200" b="0" u="none" strike="noStrike">
              <a:solidFill>
                <a:srgbClr val="000000"/>
              </a:solidFill>
              <a:effectLst/>
              <a:uFillTx/>
              <a:latin typeface="Arial"/>
            </a:endParaRPr>
          </a:p>
        </p:txBody>
      </p:sp>
      <p:sp>
        <p:nvSpPr>
          <p:cNvPr id="95" name=""/>
          <p:cNvSpPr/>
          <p:nvPr/>
        </p:nvSpPr>
        <p:spPr>
          <a:xfrm>
            <a:off x="5810400" y="2238480"/>
            <a:ext cx="2856960" cy="704160"/>
          </a:xfrm>
          <a:prstGeom prst="rect">
            <a:avLst/>
          </a:prstGeom>
          <a:noFill/>
          <a:ln w="0">
            <a:noFill/>
          </a:ln>
        </p:spPr>
        <p:style>
          <a:lnRef idx="0"/>
          <a:fillRef idx="0"/>
          <a:effectRef idx="0"/>
          <a:fontRef idx="minor"/>
        </p:style>
        <p:txBody>
          <a:bodyPr lIns="90000" tIns="45000" rIns="90000" bIns="45000" anchor="ctr">
            <a:normAutofit/>
          </a:bodyPr>
          <a:p>
            <a:pPr algn="r" defTabSz="914400">
              <a:lnSpc>
                <a:spcPct val="100000"/>
              </a:lnSpc>
              <a:tabLst>
                <a:tab pos="0" algn="l"/>
              </a:tabLst>
            </a:pPr>
            <a:r>
              <a:rPr lang="en-US" sz="3600" b="0" u="none" strike="noStrike">
                <a:solidFill>
                  <a:srgbClr val="191919"/>
                </a:solidFill>
                <a:effectLst/>
                <a:uFillTx/>
                <a:latin typeface="Lexend Deca"/>
              </a:rPr>
              <a:t>980 ops/s</a:t>
            </a:r>
            <a:endParaRPr lang="en-US" sz="3600" b="0" u="none" strike="noStrike">
              <a:solidFill>
                <a:srgbClr val="000000"/>
              </a:solidFill>
              <a:effectLst/>
              <a:uFillTx/>
              <a:latin typeface="Arial"/>
            </a:endParaRPr>
          </a:p>
        </p:txBody>
      </p:sp>
      <p:sp>
        <p:nvSpPr>
          <p:cNvPr id="96" name=""/>
          <p:cNvSpPr/>
          <p:nvPr/>
        </p:nvSpPr>
        <p:spPr>
          <a:xfrm>
            <a:off x="476280" y="3048120"/>
            <a:ext cx="2380680" cy="36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400" b="0" u="none" strike="noStrike">
                <a:solidFill>
                  <a:srgbClr val="191919"/>
                </a:solidFill>
                <a:effectLst/>
                <a:uFillTx/>
                <a:latin typeface="Catamaran"/>
              </a:rPr>
              <a:t>Storage footprint</a:t>
            </a:r>
            <a:endParaRPr lang="en-US" sz="1400" b="0" u="none" strike="noStrike">
              <a:solidFill>
                <a:srgbClr val="000000"/>
              </a:solidFill>
              <a:effectLst/>
              <a:uFillTx/>
              <a:latin typeface="Arial"/>
            </a:endParaRPr>
          </a:p>
        </p:txBody>
      </p:sp>
      <p:sp>
        <p:nvSpPr>
          <p:cNvPr id="97" name=""/>
          <p:cNvSpPr/>
          <p:nvPr/>
        </p:nvSpPr>
        <p:spPr>
          <a:xfrm>
            <a:off x="3048120" y="3048120"/>
            <a:ext cx="2571120" cy="51372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200" b="0" u="none" strike="noStrike">
                <a:solidFill>
                  <a:srgbClr val="191919"/>
                </a:solidFill>
                <a:effectLst/>
                <a:uFillTx/>
                <a:latin typeface="Catamaran"/>
              </a:rPr>
              <a:t>Current data store size across courses, sections, schedules.</a:t>
            </a:r>
            <a:endParaRPr lang="en-US" sz="1200" b="0" u="none" strike="noStrike">
              <a:solidFill>
                <a:srgbClr val="000000"/>
              </a:solidFill>
              <a:effectLst/>
              <a:uFillTx/>
              <a:latin typeface="Arial"/>
            </a:endParaRPr>
          </a:p>
        </p:txBody>
      </p:sp>
      <p:sp>
        <p:nvSpPr>
          <p:cNvPr id="98" name=""/>
          <p:cNvSpPr/>
          <p:nvPr/>
        </p:nvSpPr>
        <p:spPr>
          <a:xfrm>
            <a:off x="5810400" y="3048120"/>
            <a:ext cx="2856960" cy="704160"/>
          </a:xfrm>
          <a:prstGeom prst="rect">
            <a:avLst/>
          </a:prstGeom>
          <a:noFill/>
          <a:ln w="0">
            <a:noFill/>
          </a:ln>
        </p:spPr>
        <p:style>
          <a:lnRef idx="0"/>
          <a:fillRef idx="0"/>
          <a:effectRef idx="0"/>
          <a:fontRef idx="minor"/>
        </p:style>
        <p:txBody>
          <a:bodyPr lIns="90000" tIns="45000" rIns="90000" bIns="45000" anchor="ctr">
            <a:normAutofit/>
          </a:bodyPr>
          <a:p>
            <a:pPr algn="r" defTabSz="914400">
              <a:lnSpc>
                <a:spcPct val="100000"/>
              </a:lnSpc>
              <a:tabLst>
                <a:tab pos="0" algn="l"/>
              </a:tabLst>
            </a:pPr>
            <a:r>
              <a:rPr lang="en-US" sz="3600" b="0" u="none" strike="noStrike">
                <a:solidFill>
                  <a:srgbClr val="191919"/>
                </a:solidFill>
                <a:effectLst/>
                <a:uFillTx/>
                <a:latin typeface="Lexend Deca"/>
              </a:rPr>
              <a:t>72 GB</a:t>
            </a:r>
            <a:endParaRPr lang="en-US" sz="3600" b="0" u="none" strike="noStrike">
              <a:solidFill>
                <a:srgbClr val="000000"/>
              </a:solidFill>
              <a:effectLst/>
              <a:uFillTx/>
              <a:latin typeface="Arial"/>
            </a:endParaRPr>
          </a:p>
        </p:txBody>
      </p:sp>
      <p:sp>
        <p:nvSpPr>
          <p:cNvPr id="99" name=""/>
          <p:cNvSpPr/>
          <p:nvPr/>
        </p:nvSpPr>
        <p:spPr>
          <a:xfrm>
            <a:off x="476280" y="3857760"/>
            <a:ext cx="2380680" cy="36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400" b="0" u="none" strike="noStrike">
                <a:solidFill>
                  <a:srgbClr val="191919"/>
                </a:solidFill>
                <a:effectLst/>
                <a:uFillTx/>
                <a:latin typeface="Catamaran"/>
              </a:rPr>
              <a:t>Retrieval latency</a:t>
            </a:r>
            <a:endParaRPr lang="en-US" sz="1400" b="0" u="none" strike="noStrike">
              <a:solidFill>
                <a:srgbClr val="000000"/>
              </a:solidFill>
              <a:effectLst/>
              <a:uFillTx/>
              <a:latin typeface="Arial"/>
            </a:endParaRPr>
          </a:p>
        </p:txBody>
      </p:sp>
      <p:sp>
        <p:nvSpPr>
          <p:cNvPr id="100" name=""/>
          <p:cNvSpPr/>
          <p:nvPr/>
        </p:nvSpPr>
        <p:spPr>
          <a:xfrm>
            <a:off x="3048120" y="3857760"/>
            <a:ext cx="2571120" cy="513720"/>
          </a:xfrm>
          <a:prstGeom prst="rect">
            <a:avLst/>
          </a:prstGeom>
          <a:noFill/>
          <a:ln w="0">
            <a:noFill/>
          </a:ln>
        </p:spPr>
        <p:style>
          <a:lnRef idx="0"/>
          <a:fillRef idx="0"/>
          <a:effectRef idx="0"/>
          <a:fontRef idx="minor"/>
        </p:style>
        <p:txBody>
          <a:bodyPr lIns="90000" tIns="45000" rIns="90000" bIns="45000" anchor="ctr">
            <a:normAutofit/>
          </a:bodyPr>
          <a:p>
            <a:pPr defTabSz="914400">
              <a:lnSpc>
                <a:spcPct val="100000"/>
              </a:lnSpc>
              <a:tabLst>
                <a:tab pos="0" algn="l"/>
              </a:tabLst>
            </a:pPr>
            <a:r>
              <a:rPr lang="en-US" sz="1200" b="0" u="none" strike="noStrike">
                <a:solidFill>
                  <a:srgbClr val="191919"/>
                </a:solidFill>
                <a:effectLst/>
                <a:uFillTx/>
                <a:latin typeface="Catamaran"/>
              </a:rPr>
              <a:t>API read path for retrieving schedules and blocks.</a:t>
            </a:r>
            <a:endParaRPr lang="en-US" sz="1200" b="0" u="none" strike="noStrike">
              <a:solidFill>
                <a:srgbClr val="000000"/>
              </a:solidFill>
              <a:effectLst/>
              <a:uFillTx/>
              <a:latin typeface="Arial"/>
            </a:endParaRPr>
          </a:p>
        </p:txBody>
      </p:sp>
      <p:sp>
        <p:nvSpPr>
          <p:cNvPr id="101" name=""/>
          <p:cNvSpPr/>
          <p:nvPr/>
        </p:nvSpPr>
        <p:spPr>
          <a:xfrm>
            <a:off x="5810400" y="3857760"/>
            <a:ext cx="2856960" cy="704160"/>
          </a:xfrm>
          <a:prstGeom prst="rect">
            <a:avLst/>
          </a:prstGeom>
          <a:noFill/>
          <a:ln w="0">
            <a:noFill/>
          </a:ln>
        </p:spPr>
        <p:style>
          <a:lnRef idx="0"/>
          <a:fillRef idx="0"/>
          <a:effectRef idx="0"/>
          <a:fontRef idx="minor"/>
        </p:style>
        <p:txBody>
          <a:bodyPr lIns="90000" tIns="45000" rIns="90000" bIns="45000" anchor="ctr">
            <a:normAutofit/>
          </a:bodyPr>
          <a:p>
            <a:pPr algn="r" defTabSz="914400">
              <a:lnSpc>
                <a:spcPct val="100000"/>
              </a:lnSpc>
              <a:tabLst>
                <a:tab pos="0" algn="l"/>
              </a:tabLst>
            </a:pPr>
            <a:r>
              <a:rPr lang="en-US" sz="3600" b="0" u="none" strike="noStrike">
                <a:solidFill>
                  <a:srgbClr val="191919"/>
                </a:solidFill>
                <a:effectLst/>
                <a:uFillTx/>
                <a:latin typeface="Lexend Deca"/>
              </a:rPr>
              <a:t>4.3 ms</a:t>
            </a:r>
            <a:endParaRPr lang="en-US"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algn="ctr" defTabSz="914400">
              <a:lnSpc>
                <a:spcPct val="100000"/>
              </a:lnSpc>
              <a:tabLst>
                <a:tab pos="0" algn="l"/>
              </a:tabLst>
            </a:pPr>
            <a:r>
              <a:rPr lang="en-US" sz="2400" b="1" u="none" strike="noStrike">
                <a:solidFill>
                  <a:srgbClr val="191919"/>
                </a:solidFill>
                <a:effectLst/>
                <a:uFillTx/>
                <a:latin typeface="Lexend Deca"/>
              </a:rPr>
              <a:t>Algorithmic Conflict Handling Is Correct</a:t>
            </a:r>
            <a:endParaRPr lang="en-US" sz="2400" b="0" u="none" strike="noStrike">
              <a:solidFill>
                <a:srgbClr val="000000"/>
              </a:solidFill>
              <a:effectLst/>
              <a:uFillTx/>
              <a:latin typeface="Arial"/>
            </a:endParaRPr>
          </a:p>
        </p:txBody>
      </p:sp>
      <p:sp>
        <p:nvSpPr>
          <p:cNvPr id="103" name=""/>
          <p:cNvSpPr/>
          <p:nvPr/>
        </p:nvSpPr>
        <p:spPr>
          <a:xfrm>
            <a:off x="476280" y="1238400"/>
            <a:ext cx="390456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1" u="none" strike="noStrike">
                <a:solidFill>
                  <a:srgbClr val="191919"/>
                </a:solidFill>
                <a:effectLst/>
                <a:uFillTx/>
                <a:latin typeface="Catamaran"/>
              </a:rPr>
              <a:t>Implemented Approach</a:t>
            </a:r>
            <a:endParaRPr lang="en-US" sz="1400" b="0" u="none" strike="noStrike">
              <a:solidFill>
                <a:srgbClr val="000000"/>
              </a:solidFill>
              <a:effectLst/>
              <a:uFillTx/>
              <a:latin typeface="Arial"/>
            </a:endParaRPr>
          </a:p>
        </p:txBody>
      </p:sp>
      <p:sp>
        <p:nvSpPr>
          <p:cNvPr id="104" name=""/>
          <p:cNvSpPr/>
          <p:nvPr/>
        </p:nvSpPr>
        <p:spPr>
          <a:xfrm>
            <a:off x="476280" y="1695600"/>
            <a:ext cx="3904560" cy="124704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Planora uses interval overlap checks per time slot, a time-slot hash to detect duplicates quickly, and a lightweight graph model to detect cross-resource conflicts. Correctness is supported by unit tests targeting boundary cases (adjacent slots, wrap-around, multi-resource contention). The design en</a:t>
            </a:r>
            <a:endParaRPr lang="en-US" sz="1200" b="0" u="none" strike="noStrike">
              <a:solidFill>
                <a:srgbClr val="000000"/>
              </a:solidFill>
              <a:effectLst/>
              <a:uFillTx/>
              <a:latin typeface="Arial"/>
            </a:endParaRPr>
          </a:p>
        </p:txBody>
      </p:sp>
      <p:sp>
        <p:nvSpPr>
          <p:cNvPr id="105" name=""/>
          <p:cNvSpPr/>
          <p:nvPr/>
        </p:nvSpPr>
        <p:spPr>
          <a:xfrm>
            <a:off x="4762440" y="1238400"/>
            <a:ext cx="3904560" cy="36108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400" b="1" u="none" strike="noStrike">
                <a:solidFill>
                  <a:srgbClr val="191919"/>
                </a:solidFill>
                <a:effectLst/>
                <a:uFillTx/>
                <a:latin typeface="Catamaran"/>
              </a:rPr>
              <a:t>Standards &amp; Alternatives</a:t>
            </a:r>
            <a:endParaRPr lang="en-US" sz="1400" b="0" u="none" strike="noStrike">
              <a:solidFill>
                <a:srgbClr val="000000"/>
              </a:solidFill>
              <a:effectLst/>
              <a:uFillTx/>
              <a:latin typeface="Arial"/>
            </a:endParaRPr>
          </a:p>
        </p:txBody>
      </p:sp>
      <p:sp>
        <p:nvSpPr>
          <p:cNvPr id="106" name=""/>
          <p:cNvSpPr/>
          <p:nvPr/>
        </p:nvSpPr>
        <p:spPr>
          <a:xfrm>
            <a:off x="4762440" y="1695600"/>
            <a:ext cx="3904560" cy="124704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Common baselines use full interval trees or sweep-line algorithms, and constraint satisfaction approaches for multi-resource conflicts. Our approach trades some generality for targeted efficiency and easier testing, with explicit edge-case tests that mirror real scheduling scenarios.</a:t>
            </a:r>
            <a:endParaRPr lang="en-US" sz="1200" b="0" u="none" strike="noStrike">
              <a:solidFill>
                <a:srgbClr val="000000"/>
              </a:solidFill>
              <a:effectLst/>
              <a:uFillTx/>
              <a:latin typeface="Arial"/>
            </a:endParaRPr>
          </a:p>
        </p:txBody>
      </p:sp>
      <p:sp>
        <p:nvSpPr>
          <p:cNvPr id="107" name=""/>
          <p:cNvSpPr/>
          <p:nvPr/>
        </p:nvSpPr>
        <p:spPr>
          <a:xfrm>
            <a:off x="476280" y="4229280"/>
            <a:ext cx="8190720" cy="332640"/>
          </a:xfrm>
          <a:prstGeom prst="rect">
            <a:avLst/>
          </a:prstGeom>
          <a:noFill/>
          <a:ln w="0">
            <a:noFill/>
          </a:ln>
        </p:spPr>
        <p:style>
          <a:lnRef idx="0"/>
          <a:fillRef idx="0"/>
          <a:effectRef idx="0"/>
          <a:fontRef idx="minor"/>
        </p:style>
        <p:txBody>
          <a:bodyPr lIns="90000" tIns="45000" rIns="90000" bIns="45000" anchor="t">
            <a:normAutofit/>
          </a:bodyPr>
          <a:p>
            <a:pPr defTabSz="914400">
              <a:lnSpc>
                <a:spcPct val="100000"/>
              </a:lnSpc>
              <a:tabLst>
                <a:tab pos="0" algn="l"/>
              </a:tabLst>
            </a:pPr>
            <a:r>
              <a:rPr lang="en-US" sz="1200" b="0" u="none" strike="noStrike">
                <a:solidFill>
                  <a:srgbClr val="191919"/>
                </a:solidFill>
                <a:effectLst/>
                <a:uFillTx/>
                <a:latin typeface="Catamaran"/>
              </a:rPr>
              <a:t>Unit-test coverage confirms correctness guarantees for all implemented rules.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Persistent Scheduling</a:t>
            </a:r>
            <a:endParaRPr lang="en-US" sz="2400" b="0" u="none" strike="noStrike">
              <a:solidFill>
                <a:srgbClr val="000000"/>
              </a:solidFill>
              <a:effectLst/>
              <a:uFillTx/>
              <a:latin typeface="Arial"/>
            </a:endParaRPr>
          </a:p>
        </p:txBody>
      </p:sp>
      <p:sp>
        <p:nvSpPr>
          <p:cNvPr id="109" name=""/>
          <p:cNvSpPr/>
          <p:nvPr/>
        </p:nvSpPr>
        <p:spPr>
          <a:xfrm>
            <a:off x="476280" y="1238400"/>
            <a:ext cx="8190720" cy="137088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50000"/>
              </a:lnSpc>
              <a:tabLst>
                <a:tab pos="0" algn="l"/>
              </a:tabLst>
            </a:pPr>
            <a:r>
              <a:rPr lang="en-US" sz="1600" b="0" u="none" strike="noStrike">
                <a:solidFill>
                  <a:srgbClr val="191919"/>
                </a:solidFill>
                <a:effectLst/>
                <a:uFillTx/>
                <a:latin typeface="Catamaran"/>
              </a:rPr>
              <a:t>Planora stores schedules in a server-side relational DB with a mirrored client cache (IndexedDB). Real-time sync uses WebSockets, with polling as a fallback to ensure liveness. Conflicts are resolved server-authoritative: the server's version wins and clients re-sync to canonical state.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
          <p:cNvSpPr/>
          <p:nvPr/>
        </p:nvSpPr>
        <p:spPr>
          <a:xfrm>
            <a:off x="476280" y="380880"/>
            <a:ext cx="8190720" cy="361080"/>
          </a:xfrm>
          <a:prstGeom prst="rect">
            <a:avLst/>
          </a:prstGeom>
          <a:noFill/>
          <a:ln w="0">
            <a:noFill/>
          </a:ln>
        </p:spPr>
        <p:style>
          <a:lnRef idx="0"/>
          <a:fillRef idx="0"/>
          <a:effectRef idx="0"/>
          <a:fontRef idx="minor"/>
        </p:style>
        <p:txBody>
          <a:bodyPr lIns="90000" tIns="45000" rIns="90000" bIns="45000" anchor="t">
            <a:normAutofit fontScale="85000" lnSpcReduction="19999"/>
          </a:bodyPr>
          <a:p>
            <a:pPr defTabSz="914400">
              <a:lnSpc>
                <a:spcPct val="100000"/>
              </a:lnSpc>
              <a:tabLst>
                <a:tab pos="0" algn="l"/>
              </a:tabLst>
            </a:pPr>
            <a:r>
              <a:rPr lang="en-US" sz="2400" b="0" u="none" strike="noStrike">
                <a:solidFill>
                  <a:srgbClr val="191919"/>
                </a:solidFill>
                <a:effectLst/>
                <a:uFillTx/>
                <a:latin typeface="Lexend Deca"/>
              </a:rPr>
              <a:t>Practical Path Forward</a:t>
            </a:r>
            <a:endParaRPr lang="en-US" sz="2400" b="0" u="none" strike="noStrike">
              <a:solidFill>
                <a:srgbClr val="000000"/>
              </a:solidFill>
              <a:effectLst/>
              <a:uFillTx/>
              <a:latin typeface="Arial"/>
            </a:endParaRPr>
          </a:p>
        </p:txBody>
      </p:sp>
      <p:sp>
        <p:nvSpPr>
          <p:cNvPr id="111" name=""/>
          <p:cNvSpPr/>
          <p:nvPr/>
        </p:nvSpPr>
        <p:spPr>
          <a:xfrm>
            <a:off x="476280" y="1238400"/>
            <a:ext cx="8190720" cy="1675800"/>
          </a:xfrm>
          <a:prstGeom prst="rect">
            <a:avLst/>
          </a:prstGeom>
          <a:noFill/>
          <a:ln w="0">
            <a:noFill/>
          </a:ln>
        </p:spPr>
        <p:style>
          <a:lnRef idx="0"/>
          <a:fillRef idx="0"/>
          <a:effectRef idx="0"/>
          <a:fontRef idx="minor"/>
        </p:style>
        <p:txBody>
          <a:bodyPr lIns="90000" tIns="45000" rIns="90000" bIns="45000" anchor="t">
            <a:normAutofit fontScale="92500" lnSpcReduction="9999"/>
          </a:bodyPr>
          <a:p>
            <a:pPr defTabSz="914400">
              <a:lnSpc>
                <a:spcPct val="150000"/>
              </a:lnSpc>
              <a:tabLst>
                <a:tab pos="0" algn="l"/>
              </a:tabLst>
            </a:pPr>
            <a:r>
              <a:rPr lang="en-US" sz="1600" b="0" u="none" strike="noStrike">
                <a:solidFill>
                  <a:srgbClr val="191919"/>
                </a:solidFill>
                <a:effectLst/>
                <a:uFillTx/>
                <a:latin typeface="Catamaran"/>
              </a:rPr>
              <a:t>Planora anchors campus deployment in a pragmatic balance of governance, reliability, and developer autonomy. Adoption considerations—operational footprint, data governance, and maintainability risks—are mitigated by modular persistence and clear separation of concerns. The next steps emphasize incremental integration, transparent metrics, and proactive feedback to keep technical debt manageable.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133720" y="-769320"/>
            <a:ext cx="4876200" cy="2378160"/>
          </a:xfrm>
          <a:prstGeom prst="rect">
            <a:avLst/>
          </a:prstGeom>
          <a:noFill/>
          <a:ln w="0">
            <a:noFill/>
          </a:ln>
        </p:spPr>
        <p:txBody>
          <a:bodyPr lIns="91440" tIns="91440" rIns="91440" bIns="91440" anchor="b">
            <a:spAutoFit/>
          </a:bodyPr>
          <a:p>
            <a:pPr indent="0" algn="ctr">
              <a:lnSpc>
                <a:spcPct val="100000"/>
              </a:lnSpc>
              <a:buNone/>
              <a:tabLst>
                <a:tab pos="0" algn="l"/>
              </a:tabLst>
            </a:pPr>
            <a:r>
              <a:rPr lang="en" sz="7200" b="0" u="none" strike="noStrike">
                <a:solidFill>
                  <a:schemeClr val="dk1"/>
                </a:solidFill>
                <a:effectLst/>
                <a:uFillTx/>
                <a:latin typeface="Lexend Deca"/>
                <a:ea typeface="Lexend Deca"/>
              </a:rPr>
              <a:t>Thanks!</a:t>
            </a:r>
            <a:endParaRPr lang="en-US" sz="7200" b="0" u="none" strike="noStrike">
              <a:solidFill>
                <a:srgbClr val="000000"/>
              </a:solidFill>
              <a:effectLst/>
              <a:uFillTx/>
              <a:latin typeface="Arial"/>
            </a:endParaRPr>
          </a:p>
        </p:txBody>
      </p:sp>
      <p:sp>
        <p:nvSpPr>
          <p:cNvPr id="113" name="PlaceHolder 2"/>
          <p:cNvSpPr>
            <a:spLocks noGrp="1"/>
          </p:cNvSpPr>
          <p:nvPr>
            <p:ph type="subTitle"/>
          </p:nvPr>
        </p:nvSpPr>
        <p:spPr>
          <a:xfrm>
            <a:off x="2943360" y="1504800"/>
            <a:ext cx="3199680" cy="1305360"/>
          </a:xfrm>
          <a:prstGeom prst="rect">
            <a:avLst/>
          </a:prstGeom>
          <a:noFill/>
          <a:ln w="0">
            <a:noFill/>
          </a:ln>
        </p:spPr>
        <p:txBody>
          <a:bodyPr lIns="91440" tIns="91440" rIns="91440" bIns="91440" anchor="t">
            <a:spAutoFit/>
          </a:bodyPr>
          <a:p>
            <a:pPr indent="0" algn="ctr">
              <a:lnSpc>
                <a:spcPct val="100000"/>
              </a:lnSpc>
              <a:buNone/>
              <a:tabLst>
                <a:tab pos="0" algn="l"/>
              </a:tabLst>
            </a:pPr>
            <a:r>
              <a:rPr lang="en" sz="1600" b="0" u="none" strike="noStrike">
                <a:solidFill>
                  <a:schemeClr val="dk1"/>
                </a:solidFill>
                <a:effectLst/>
                <a:uFillTx/>
                <a:latin typeface="Catamaran"/>
                <a:ea typeface="Catamaran"/>
              </a:rPr>
              <a:t>Do you have any questions?</a:t>
            </a:r>
            <a:endParaRPr lang="en-US" sz="1600" b="0" u="none" strike="noStrike">
              <a:solidFill>
                <a:srgbClr val="000000"/>
              </a:solidFill>
              <a:effectLst/>
              <a:uFillTx/>
              <a:latin typeface="Arial"/>
            </a:endParaRPr>
          </a:p>
          <a:p>
            <a:pPr indent="0" algn="ctr">
              <a:lnSpc>
                <a:spcPct val="100000"/>
              </a:lnSpc>
              <a:buNone/>
              <a:tabLst>
                <a:tab pos="0" algn="l"/>
              </a:tabLst>
            </a:pPr>
            <a:endParaRPr lang="en-US" sz="1600" b="0" u="none" strike="noStrike">
              <a:solidFill>
                <a:srgbClr val="000000"/>
              </a:solidFill>
              <a:effectLst/>
              <a:uFillTx/>
              <a:latin typeface="Arial"/>
            </a:endParaRPr>
          </a:p>
          <a:p>
            <a:pPr indent="0" algn="ctr">
              <a:lnSpc>
                <a:spcPct val="100000"/>
              </a:lnSpc>
              <a:buNone/>
              <a:tabLst>
                <a:tab pos="0" algn="l"/>
              </a:tabLst>
            </a:pPr>
            <a:r>
              <a:rPr lang="en" sz="1600" b="0" u="none" strike="noStrike">
                <a:solidFill>
                  <a:schemeClr val="dk1"/>
                </a:solidFill>
                <a:effectLst/>
                <a:uFillTx/>
                <a:latin typeface="Catamaran"/>
                <a:ea typeface="Catamaran"/>
              </a:rPr>
              <a:t>youremail@freepik.com </a:t>
            </a:r>
            <a:endParaRPr lang="en-US" sz="1600" b="0" u="none" strike="noStrike">
              <a:solidFill>
                <a:srgbClr val="000000"/>
              </a:solidFill>
              <a:effectLst/>
              <a:uFillTx/>
              <a:latin typeface="Arial"/>
            </a:endParaRPr>
          </a:p>
          <a:p>
            <a:pPr indent="0" algn="ctr">
              <a:lnSpc>
                <a:spcPct val="100000"/>
              </a:lnSpc>
              <a:buNone/>
              <a:tabLst>
                <a:tab pos="0" algn="l"/>
              </a:tabLst>
            </a:pPr>
            <a:r>
              <a:rPr lang="en" sz="1600" b="0" u="none" strike="noStrike">
                <a:solidFill>
                  <a:schemeClr val="dk1"/>
                </a:solidFill>
                <a:effectLst/>
                <a:uFillTx/>
                <a:latin typeface="Catamaran"/>
                <a:ea typeface="Catamaran"/>
              </a:rPr>
              <a:t>+91  620 421 838 </a:t>
            </a:r>
            <a:endParaRPr lang="en-US" sz="1600" b="0" u="none" strike="noStrike">
              <a:solidFill>
                <a:srgbClr val="000000"/>
              </a:solidFill>
              <a:effectLst/>
              <a:uFillTx/>
              <a:latin typeface="Arial"/>
            </a:endParaRPr>
          </a:p>
          <a:p>
            <a:pPr indent="0" algn="ctr">
              <a:lnSpc>
                <a:spcPct val="100000"/>
              </a:lnSpc>
              <a:buNone/>
              <a:tabLst>
                <a:tab pos="0" algn="l"/>
              </a:tabLst>
            </a:pPr>
            <a:r>
              <a:rPr lang="en" sz="1600" b="0" u="none" strike="noStrike">
                <a:solidFill>
                  <a:schemeClr val="dk1"/>
                </a:solidFill>
                <a:effectLst/>
                <a:uFillTx/>
                <a:latin typeface="Catamaran"/>
                <a:ea typeface="Catamaran"/>
              </a:rPr>
              <a:t>yourwebsite.com</a:t>
            </a:r>
            <a:endParaRPr lang="en-US" sz="1600" b="0" u="none" strike="noStrike">
              <a:solidFill>
                <a:srgbClr val="000000"/>
              </a:solidFill>
              <a:effectLst/>
              <a:uFillTx/>
              <a:latin typeface="Arial"/>
            </a:endParaRPr>
          </a:p>
        </p:txBody>
      </p:sp>
      <p:sp>
        <p:nvSpPr>
          <p:cNvPr id="114" name="Google Shape;585;p52"/>
          <p:cNvSpPr/>
          <p:nvPr/>
        </p:nvSpPr>
        <p:spPr>
          <a:xfrm>
            <a:off x="3432600" y="3014280"/>
            <a:ext cx="464400" cy="464760"/>
          </a:xfrm>
          <a:custGeom>
            <a:avLst/>
            <a:gdLst>
              <a:gd name="textAreaLeft" fmla="*/ 0 w 464400"/>
              <a:gd name="textAreaRight" fmla="*/ 465120 w 464400"/>
              <a:gd name="textAreaTop" fmla="*/ 0 h 464760"/>
              <a:gd name="textAreaBottom" fmla="*/ 465480 h 46476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2"/>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grpSp>
        <p:nvGrpSpPr>
          <p:cNvPr id="115" name="Google Shape;586;p52"/>
          <p:cNvGrpSpPr/>
          <p:nvPr/>
        </p:nvGrpSpPr>
        <p:grpSpPr>
          <a:xfrm>
            <a:off x="4037040" y="3014640"/>
            <a:ext cx="464760" cy="464400"/>
            <a:chOff x="4037040" y="3014640"/>
            <a:chExt cx="464760" cy="464400"/>
          </a:xfrm>
        </p:grpSpPr>
        <p:sp>
          <p:nvSpPr>
            <p:cNvPr id="116" name="Google Shape;587;p52"/>
            <p:cNvSpPr/>
            <p:nvPr/>
          </p:nvSpPr>
          <p:spPr>
            <a:xfrm>
              <a:off x="4037040" y="3014640"/>
              <a:ext cx="464760" cy="464400"/>
            </a:xfrm>
            <a:custGeom>
              <a:avLst/>
              <a:gdLst>
                <a:gd name="textAreaLeft" fmla="*/ 0 w 464760"/>
                <a:gd name="textAreaRight" fmla="*/ 465480 w 464760"/>
                <a:gd name="textAreaTop" fmla="*/ 0 h 464400"/>
                <a:gd name="textAreaBottom" fmla="*/ 465120 h 46440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1"/>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117" name="Google Shape;588;p52"/>
            <p:cNvSpPr/>
            <p:nvPr/>
          </p:nvSpPr>
          <p:spPr>
            <a:xfrm>
              <a:off x="4124520" y="3102480"/>
              <a:ext cx="289080" cy="289080"/>
            </a:xfrm>
            <a:custGeom>
              <a:avLst/>
              <a:gdLst>
                <a:gd name="textAreaLeft" fmla="*/ 0 w 289080"/>
                <a:gd name="textAreaRight" fmla="*/ 289800 w 289080"/>
                <a:gd name="textAreaTop" fmla="*/ 0 h 289080"/>
                <a:gd name="textAreaBottom" fmla="*/ 289800 h 28908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1"/>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118" name="Google Shape;589;p52"/>
            <p:cNvSpPr/>
            <p:nvPr/>
          </p:nvSpPr>
          <p:spPr>
            <a:xfrm>
              <a:off x="4191840" y="3171240"/>
              <a:ext cx="153720" cy="150840"/>
            </a:xfrm>
            <a:custGeom>
              <a:avLst/>
              <a:gdLst>
                <a:gd name="textAreaLeft" fmla="*/ 0 w 153720"/>
                <a:gd name="textAreaRight" fmla="*/ 154440 w 153720"/>
                <a:gd name="textAreaTop" fmla="*/ 0 h 150840"/>
                <a:gd name="textAreaBottom" fmla="*/ 151560 h 15084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1"/>
            </a:solidFill>
            <a:ln w="0">
              <a:noFill/>
            </a:ln>
          </p:spPr>
          <p:style>
            <a:lnRef idx="0"/>
            <a:fillRef idx="0"/>
            <a:effectRef idx="0"/>
            <a:fontRef idx="minor"/>
          </p:style>
          <p:txBody>
            <a:bodyPr lIns="90000" tIns="75600" rIns="90000" bIns="75600" anchor="ctr">
              <a:noAutofit/>
            </a:bodyPr>
            <a:p>
              <a:endParaRPr lang="en-US" sz="1800" b="0" u="none" strike="noStrike">
                <a:solidFill>
                  <a:srgbClr val="000000"/>
                </a:solidFill>
                <a:effectLst/>
                <a:uFillTx/>
                <a:latin typeface="OpenSymbol"/>
              </a:endParaRPr>
            </a:p>
          </p:txBody>
        </p:sp>
        <p:sp>
          <p:nvSpPr>
            <p:cNvPr id="119" name="Google Shape;590;p52"/>
            <p:cNvSpPr/>
            <p:nvPr/>
          </p:nvSpPr>
          <p:spPr>
            <a:xfrm>
              <a:off x="4327920" y="3139560"/>
              <a:ext cx="39240" cy="38520"/>
            </a:xfrm>
            <a:custGeom>
              <a:avLst/>
              <a:gdLst>
                <a:gd name="textAreaLeft" fmla="*/ 0 w 39240"/>
                <a:gd name="textAreaRight" fmla="*/ 39960 w 39240"/>
                <a:gd name="textAreaTop" fmla="*/ 0 h 38520"/>
                <a:gd name="textAreaBottom" fmla="*/ 39240 h 3852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1"/>
            </a:solidFill>
            <a:ln w="0">
              <a:noFill/>
            </a:ln>
          </p:spPr>
          <p:style>
            <a:lnRef idx="0"/>
            <a:fillRef idx="0"/>
            <a:effectRef idx="0"/>
            <a:fontRef idx="minor"/>
          </p:style>
          <p:txBody>
            <a:bodyPr lIns="90000" tIns="19440" rIns="90000" bIns="19440" anchor="ctr">
              <a:noAutofit/>
            </a:bodyPr>
            <a:p>
              <a:endParaRPr lang="en-US" sz="1800" b="0" u="none" strike="noStrike">
                <a:solidFill>
                  <a:srgbClr val="000000"/>
                </a:solidFill>
                <a:effectLst/>
                <a:uFillTx/>
                <a:latin typeface="OpenSymbol"/>
              </a:endParaRPr>
            </a:p>
          </p:txBody>
        </p:sp>
      </p:grpSp>
      <p:grpSp>
        <p:nvGrpSpPr>
          <p:cNvPr id="120" name="Google Shape;591;p52"/>
          <p:cNvGrpSpPr/>
          <p:nvPr/>
        </p:nvGrpSpPr>
        <p:grpSpPr>
          <a:xfrm>
            <a:off x="4641480" y="3014640"/>
            <a:ext cx="464760" cy="464400"/>
            <a:chOff x="4641480" y="3014640"/>
            <a:chExt cx="464760" cy="464400"/>
          </a:xfrm>
        </p:grpSpPr>
        <p:sp>
          <p:nvSpPr>
            <p:cNvPr id="121" name="Google Shape;592;p52"/>
            <p:cNvSpPr/>
            <p:nvPr/>
          </p:nvSpPr>
          <p:spPr>
            <a:xfrm>
              <a:off x="4641480" y="3014640"/>
              <a:ext cx="464760" cy="464400"/>
            </a:xfrm>
            <a:custGeom>
              <a:avLst/>
              <a:gdLst>
                <a:gd name="textAreaLeft" fmla="*/ 0 w 464760"/>
                <a:gd name="textAreaRight" fmla="*/ 465480 w 464760"/>
                <a:gd name="textAreaTop" fmla="*/ 0 h 464400"/>
                <a:gd name="textAreaBottom" fmla="*/ 465120 h 46440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2"/>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sp>
          <p:nvSpPr>
            <p:cNvPr id="122" name="Google Shape;593;p52"/>
            <p:cNvSpPr/>
            <p:nvPr/>
          </p:nvSpPr>
          <p:spPr>
            <a:xfrm>
              <a:off x="4748400" y="3200760"/>
              <a:ext cx="63720" cy="161640"/>
            </a:xfrm>
            <a:custGeom>
              <a:avLst/>
              <a:gdLst>
                <a:gd name="textAreaLeft" fmla="*/ 0 w 63720"/>
                <a:gd name="textAreaRight" fmla="*/ 64440 w 63720"/>
                <a:gd name="textAreaTop" fmla="*/ 0 h 161640"/>
                <a:gd name="textAreaBottom" fmla="*/ 162360 h 1616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2"/>
            </a:solidFill>
            <a:ln w="0">
              <a:noFill/>
            </a:ln>
          </p:spPr>
          <p:style>
            <a:lnRef idx="0"/>
            <a:fillRef idx="0"/>
            <a:effectRef idx="0"/>
            <a:fontRef idx="minor"/>
          </p:style>
          <p:txBody>
            <a:bodyPr lIns="90000" tIns="81000" rIns="90000" bIns="81000" anchor="ctr">
              <a:noAutofit/>
            </a:bodyPr>
            <a:p>
              <a:endParaRPr lang="en-US" sz="1800" b="0" u="none" strike="noStrike">
                <a:solidFill>
                  <a:srgbClr val="000000"/>
                </a:solidFill>
                <a:effectLst/>
                <a:uFillTx/>
                <a:latin typeface="OpenSymbol"/>
              </a:endParaRPr>
            </a:p>
          </p:txBody>
        </p:sp>
        <p:sp>
          <p:nvSpPr>
            <p:cNvPr id="123" name="Google Shape;594;p52"/>
            <p:cNvSpPr/>
            <p:nvPr/>
          </p:nvSpPr>
          <p:spPr>
            <a:xfrm>
              <a:off x="4738680" y="3112560"/>
              <a:ext cx="73440" cy="73440"/>
            </a:xfrm>
            <a:custGeom>
              <a:avLst/>
              <a:gdLst>
                <a:gd name="textAreaLeft" fmla="*/ 0 w 73440"/>
                <a:gd name="textAreaRight" fmla="*/ 74160 w 73440"/>
                <a:gd name="textAreaTop" fmla="*/ 0 h 73440"/>
                <a:gd name="textAreaBottom" fmla="*/ 74160 h 7344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2"/>
            </a:solidFill>
            <a:ln w="0">
              <a:noFill/>
            </a:ln>
          </p:spPr>
          <p:style>
            <a:lnRef idx="0"/>
            <a:fillRef idx="0"/>
            <a:effectRef idx="0"/>
            <a:fontRef idx="minor"/>
          </p:style>
          <p:txBody>
            <a:bodyPr lIns="90000" tIns="37080" rIns="90000" bIns="37080" anchor="ctr">
              <a:noAutofit/>
            </a:bodyPr>
            <a:p>
              <a:endParaRPr lang="en-US" sz="1800" b="0" u="none" strike="noStrike">
                <a:solidFill>
                  <a:srgbClr val="000000"/>
                </a:solidFill>
                <a:effectLst/>
                <a:uFillTx/>
                <a:latin typeface="OpenSymbol"/>
              </a:endParaRPr>
            </a:p>
          </p:txBody>
        </p:sp>
        <p:sp>
          <p:nvSpPr>
            <p:cNvPr id="124" name="Google Shape;595;p52"/>
            <p:cNvSpPr/>
            <p:nvPr/>
          </p:nvSpPr>
          <p:spPr>
            <a:xfrm>
              <a:off x="4846320" y="3200760"/>
              <a:ext cx="171720" cy="161640"/>
            </a:xfrm>
            <a:custGeom>
              <a:avLst/>
              <a:gdLst>
                <a:gd name="textAreaLeft" fmla="*/ 0 w 171720"/>
                <a:gd name="textAreaRight" fmla="*/ 172440 w 171720"/>
                <a:gd name="textAreaTop" fmla="*/ 0 h 161640"/>
                <a:gd name="textAreaBottom" fmla="*/ 162360 h 1616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2"/>
            </a:solidFill>
            <a:ln w="0">
              <a:noFill/>
            </a:ln>
          </p:spPr>
          <p:style>
            <a:lnRef idx="0"/>
            <a:fillRef idx="0"/>
            <a:effectRef idx="0"/>
            <a:fontRef idx="minor"/>
          </p:style>
          <p:txBody>
            <a:bodyPr lIns="90000" tIns="81000" rIns="90000" bIns="81000" anchor="ctr">
              <a:noAutofit/>
            </a:bodyPr>
            <a:p>
              <a:endParaRPr lang="en-US" sz="1800" b="0" u="none" strike="noStrike">
                <a:solidFill>
                  <a:srgbClr val="000000"/>
                </a:solidFill>
                <a:effectLst/>
                <a:uFillTx/>
                <a:latin typeface="OpenSymbol"/>
              </a:endParaRPr>
            </a:p>
          </p:txBody>
        </p:sp>
      </p:grpSp>
      <p:grpSp>
        <p:nvGrpSpPr>
          <p:cNvPr id="125" name="Google Shape;596;p52"/>
          <p:cNvGrpSpPr/>
          <p:nvPr/>
        </p:nvGrpSpPr>
        <p:grpSpPr>
          <a:xfrm>
            <a:off x="5245560" y="3014640"/>
            <a:ext cx="464760" cy="464400"/>
            <a:chOff x="5245560" y="3014640"/>
            <a:chExt cx="464760" cy="464400"/>
          </a:xfrm>
        </p:grpSpPr>
        <p:grpSp>
          <p:nvGrpSpPr>
            <p:cNvPr id="126" name="Google Shape;597;p52"/>
            <p:cNvGrpSpPr/>
            <p:nvPr/>
          </p:nvGrpSpPr>
          <p:grpSpPr>
            <a:xfrm>
              <a:off x="5341320" y="3091320"/>
              <a:ext cx="273600" cy="311400"/>
              <a:chOff x="5341320" y="3091320"/>
              <a:chExt cx="273600" cy="311400"/>
            </a:xfrm>
          </p:grpSpPr>
          <p:sp>
            <p:nvSpPr>
              <p:cNvPr id="127" name="Google Shape;598;p52"/>
              <p:cNvSpPr/>
              <p:nvPr/>
            </p:nvSpPr>
            <p:spPr>
              <a:xfrm>
                <a:off x="5341320" y="3237840"/>
                <a:ext cx="158400" cy="164880"/>
              </a:xfrm>
              <a:custGeom>
                <a:avLst/>
                <a:gdLst>
                  <a:gd name="textAreaLeft" fmla="*/ 0 w 158400"/>
                  <a:gd name="textAreaRight" fmla="*/ 159120 w 158400"/>
                  <a:gd name="textAreaTop" fmla="*/ 0 h 164880"/>
                  <a:gd name="textAreaBottom" fmla="*/ 165600 h 164880"/>
                </a:gdLst>
                <a:ahLst/>
                <a:cxnLst/>
                <a:rect l="textAreaLeft" t="textAreaTop" r="textAreaRight" b="textAreaBottom"/>
                <a:pathLst>
                  <a:path w="106179" h="110289">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accent3"/>
              </a:solidFill>
              <a:ln w="0">
                <a:noFill/>
              </a:ln>
            </p:spPr>
            <p:style>
              <a:lnRef idx="0"/>
              <a:fillRef idx="0"/>
              <a:effectRef idx="0"/>
              <a:fontRef idx="minor"/>
            </p:style>
            <p:txBody>
              <a:bodyPr lIns="90000" tIns="82800" rIns="90000" bIns="82800" anchor="ctr">
                <a:noAutofit/>
              </a:bodyPr>
              <a:p>
                <a:endParaRPr lang="en-US" sz="1800" b="0" u="none" strike="noStrike">
                  <a:solidFill>
                    <a:srgbClr val="000000"/>
                  </a:solidFill>
                  <a:effectLst/>
                  <a:uFillTx/>
                  <a:latin typeface="OpenSymbol"/>
                </a:endParaRPr>
              </a:p>
            </p:txBody>
          </p:sp>
          <p:sp>
            <p:nvSpPr>
              <p:cNvPr id="128" name="Google Shape;599;p52"/>
              <p:cNvSpPr/>
              <p:nvPr/>
            </p:nvSpPr>
            <p:spPr>
              <a:xfrm>
                <a:off x="5389920" y="3091320"/>
                <a:ext cx="225000" cy="262800"/>
              </a:xfrm>
              <a:custGeom>
                <a:avLst/>
                <a:gdLst>
                  <a:gd name="textAreaLeft" fmla="*/ 0 w 225000"/>
                  <a:gd name="textAreaRight" fmla="*/ 225720 w 225000"/>
                  <a:gd name="textAreaTop" fmla="*/ 0 h 262800"/>
                  <a:gd name="textAreaBottom" fmla="*/ 263520 h 262800"/>
                </a:gdLst>
                <a:ahLst/>
                <a:cxnLst/>
                <a:rect l="textAreaLeft" t="textAreaTop" r="textAreaRight" b="textAreaBottom"/>
                <a:pathLst>
                  <a:path w="150412" h="175609">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accent3"/>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grpSp>
        <p:sp>
          <p:nvSpPr>
            <p:cNvPr id="129" name="Google Shape;600;p52"/>
            <p:cNvSpPr/>
            <p:nvPr/>
          </p:nvSpPr>
          <p:spPr>
            <a:xfrm>
              <a:off x="5245560" y="3014640"/>
              <a:ext cx="464760" cy="464400"/>
            </a:xfrm>
            <a:custGeom>
              <a:avLst/>
              <a:gdLst>
                <a:gd name="textAreaLeft" fmla="*/ 0 w 464760"/>
                <a:gd name="textAreaRight" fmla="*/ 465480 w 464760"/>
                <a:gd name="textAreaTop" fmla="*/ 0 h 464400"/>
                <a:gd name="textAreaBottom" fmla="*/ 465120 h 46440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3"/>
            </a:solidFill>
            <a:ln w="0">
              <a:noFill/>
            </a:ln>
          </p:spPr>
          <p:style>
            <a:lnRef idx="0"/>
            <a:fillRef idx="0"/>
            <a:effectRef idx="0"/>
            <a:fontRef idx="minor"/>
          </p:style>
          <p:txBody>
            <a:bodyPr lIns="90000" tIns="91440" rIns="90000" bIns="91440" anchor="ctr">
              <a:noAutofit/>
            </a:bodyPr>
            <a:p>
              <a:endParaRPr lang="en-US" sz="1800" b="0" u="none" strike="noStrike">
                <a:solidFill>
                  <a:srgbClr val="000000"/>
                </a:solidFill>
                <a:effectLst/>
                <a:uFillTx/>
                <a:latin typeface="OpenSymbol"/>
              </a:endParaRPr>
            </a:p>
          </p:txBody>
        </p:sp>
      </p:grpSp>
      <p:sp>
        <p:nvSpPr>
          <p:cNvPr id="130" name="PlaceHolder 3"/>
          <p:cNvSpPr>
            <a:spLocks noGrp="1"/>
          </p:cNvSpPr>
          <p:nvPr>
            <p:ph type="subTitle"/>
          </p:nvPr>
        </p:nvSpPr>
        <p:spPr>
          <a:xfrm>
            <a:off x="2857680" y="4219560"/>
            <a:ext cx="3437640" cy="457560"/>
          </a:xfrm>
          <a:prstGeom prst="rect">
            <a:avLst/>
          </a:prstGeom>
          <a:noFill/>
          <a:ln w="0">
            <a:noFill/>
          </a:ln>
        </p:spPr>
        <p:txBody>
          <a:bodyPr lIns="91440" tIns="91440" rIns="91440" bIns="91440" anchor="t">
            <a:spAutoFit/>
          </a:bodyPr>
          <a:p>
            <a:pPr indent="0" algn="ctr">
              <a:lnSpc>
                <a:spcPct val="100000"/>
              </a:lnSpc>
              <a:spcBef>
                <a:spcPts val="300"/>
              </a:spcBef>
              <a:spcAft>
                <a:spcPts val="1599"/>
              </a:spcAft>
              <a:buNone/>
              <a:tabLst>
                <a:tab pos="0" algn="l"/>
              </a:tabLst>
            </a:pPr>
            <a:r>
              <a:rPr lang="en" sz="1000" b="0" u="none" strike="noStrike">
                <a:solidFill>
                  <a:schemeClr val="dk1"/>
                </a:solidFill>
                <a:effectLst/>
                <a:uFillTx/>
                <a:latin typeface="Catamaran"/>
                <a:ea typeface="Catamaran"/>
              </a:rPr>
              <a:t>Please keep this slide for attribution</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astel Minimalist Elegant Lines Portfolio by Slidesgo">
  <a:themeElements>
    <a:clrScheme name="Simple Light">
      <a:dk1>
        <a:srgbClr val="191919"/>
      </a:dk1>
      <a:lt1>
        <a:srgbClr val="E7E4F1"/>
      </a:lt1>
      <a:dk2>
        <a:srgbClr val="F5F3ED"/>
      </a:dk2>
      <a:lt2>
        <a:srgbClr val="FFE0A7"/>
      </a:lt2>
      <a:accent1>
        <a:srgbClr val="F9CFD0"/>
      </a:accent1>
      <a:accent2>
        <a:srgbClr val="D9CFDE"/>
      </a:accent2>
      <a:accent3>
        <a:srgbClr val="D2DAE9"/>
      </a:accent3>
      <a:accent4>
        <a:srgbClr val="FFFFFF"/>
      </a:accent4>
      <a:accent5>
        <a:srgbClr val="FFFFFF"/>
      </a:accent5>
      <a:accent6>
        <a:srgbClr val="FFFFFF"/>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LibreOffice/26.2.5.2$Linux_X86_64 LibreOffice_project/6d2b0d33fb0f5da53a12f98bed3e9973e56ff1f0</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2026-10-06T10:02:55Z</dcterms:created>
  <dc:creator>Slidesgo AI</dc:creator>
  <dc:description/>
  <dc:language>en-US</dc:language>
  <cp:lastModifiedBy/>
  <dcterms:modified xsi:type="dcterms:W3CDTF">2026-10-06T13:11:18Z</dcterms:modified>
  <cp:revision>2</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y fmtid="{D5CDD505-2E9C-101B-9397-08002B2CF9AE}" pid="3" name="SlidesgoGeneratedBy">
    <vt:lpwstr>slidesgo-ai</vt:lpwstr>
  </property>
  <property fmtid="{D5CDD505-2E9C-101B-9397-08002B2CF9AE}" pid="4" name="SlidesgoPresentationUuid">
    <vt:lpwstr>a2ea814a-51bf-4df8-a047-7a431834e529</vt:lpwstr>
  </property>
</Properties>
</file>